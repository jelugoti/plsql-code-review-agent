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7" r:id="rId7"/>
    <p:sldId id="268" r:id="rId8"/>
    <p:sldId id="269" r:id="rId9"/>
    <p:sldId id="270" r:id="rId10"/>
    <p:sldId id="261" r:id="rId11"/>
    <p:sldId id="262" r:id="rId12"/>
    <p:sldId id="263" r:id="rId13"/>
    <p:sldId id="264" r:id="rId14"/>
    <p:sldId id="265" r:id="rId15"/>
    <p:sldId id="266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0" d="100"/>
          <a:sy n="60" d="100"/>
        </p:scale>
        <p:origin x="884" y="4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0633"/>
            <a:ext cx="12191695" cy="6858000"/>
          </a:xfrm>
          <a:prstGeom prst="rect">
            <a:avLst/>
          </a:prstGeom>
          <a:solidFill>
            <a:srgbClr val="141F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77240" y="1234440"/>
            <a:ext cx="6583680" cy="1417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Aptos"/>
              </a:rPr>
              <a:t>Oracle PL/SQL
Code Review Agent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880360"/>
            <a:ext cx="6309360" cy="8229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900" b="0">
                <a:solidFill>
                  <a:srgbClr val="DCE6F0"/>
                </a:solidFill>
                <a:latin typeface="Aptos"/>
              </a:rPr>
              <a:t>LLM-powered code review driven by an external
PL/SQL standards document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909560" y="1417320"/>
            <a:ext cx="1828800" cy="914400"/>
          </a:xfrm>
          <a:prstGeom prst="roundRect">
            <a:avLst/>
          </a:prstGeom>
          <a:solidFill>
            <a:srgbClr val="243449"/>
          </a:solidFill>
          <a:ln>
            <a:solidFill>
              <a:srgbClr val="5096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982712" y="1490472"/>
            <a:ext cx="1682496" cy="7680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600" b="1">
                <a:solidFill>
                  <a:srgbClr val="141F30"/>
                </a:solidFill>
                <a:latin typeface="Aptos"/>
              </a:rPr>
              <a:t>Standards
DOCX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09560" y="2788920"/>
            <a:ext cx="1828800" cy="914400"/>
          </a:xfrm>
          <a:prstGeom prst="roundRect">
            <a:avLst/>
          </a:prstGeom>
          <a:solidFill>
            <a:srgbClr val="243449"/>
          </a:solidFill>
          <a:ln>
            <a:solidFill>
              <a:srgbClr val="5096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982712" y="2862072"/>
            <a:ext cx="1682496" cy="7680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600" b="1">
                <a:solidFill>
                  <a:srgbClr val="141F30"/>
                </a:solidFill>
                <a:latin typeface="Aptos"/>
              </a:rPr>
              <a:t>PL/SQL
Source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058400" y="2103120"/>
            <a:ext cx="1463040" cy="914400"/>
          </a:xfrm>
          <a:prstGeom prst="roundRect">
            <a:avLst/>
          </a:prstGeom>
          <a:solidFill>
            <a:srgbClr val="243449"/>
          </a:solidFill>
          <a:ln>
            <a:solidFill>
              <a:srgbClr val="50B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131552" y="2176272"/>
            <a:ext cx="1316736" cy="7680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500" b="1" dirty="0">
                <a:solidFill>
                  <a:srgbClr val="141F30"/>
                </a:solidFill>
                <a:latin typeface="Aptos"/>
              </a:rPr>
              <a:t>LLM
Review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9738360" y="1874519"/>
            <a:ext cx="320040" cy="640081"/>
          </a:xfrm>
          <a:prstGeom prst="line">
            <a:avLst/>
          </a:prstGeom>
          <a:ln w="19050">
            <a:solidFill>
              <a:srgbClr val="66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9738360" y="2606040"/>
            <a:ext cx="320040" cy="640080"/>
          </a:xfrm>
          <a:prstGeom prst="line">
            <a:avLst/>
          </a:prstGeom>
          <a:ln w="19050">
            <a:solidFill>
              <a:srgbClr val="66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822960" y="5212080"/>
            <a:ext cx="274320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400" b="1">
                <a:solidFill>
                  <a:srgbClr val="78BEB9"/>
                </a:solidFill>
                <a:latin typeface="Aptos"/>
              </a:rPr>
              <a:t>Proof of concept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700" b="1">
                <a:solidFill>
                  <a:srgbClr val="141F30"/>
                </a:solidFill>
                <a:latin typeface="Aptos"/>
              </a:rPr>
              <a:t>1. Problem &amp; Opportunity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41248"/>
            <a:ext cx="10789920" cy="34747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50" b="0">
                <a:solidFill>
                  <a:srgbClr val="667280"/>
                </a:solidFill>
                <a:latin typeface="Aptos"/>
              </a:rPr>
              <a:t>Why explore AI-assisted PL/SQL review?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325880"/>
            <a:ext cx="352044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40080" y="1325880"/>
            <a:ext cx="73152" cy="1828800"/>
          </a:xfrm>
          <a:prstGeom prst="rect">
            <a:avLst/>
          </a:prstGeom>
          <a:solidFill>
            <a:srgbClr val="306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41247" y="1490472"/>
            <a:ext cx="315468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600" b="1">
                <a:solidFill>
                  <a:srgbClr val="141F30"/>
                </a:solidFill>
                <a:latin typeface="Aptos"/>
              </a:rPr>
              <a:t>Standards are external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1892807"/>
            <a:ext cx="2876237" cy="66941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50" b="0" dirty="0">
                <a:solidFill>
                  <a:srgbClr val="232B36"/>
                </a:solidFill>
                <a:latin typeface="Aptos"/>
              </a:rPr>
              <a:t>Coding standards can evolve over time.</a:t>
            </a:r>
            <a:endParaRPr lang="en-US" sz="1250" b="0" dirty="0">
              <a:solidFill>
                <a:srgbClr val="232B36"/>
              </a:solidFill>
              <a:latin typeface="Aptos"/>
            </a:endParaRPr>
          </a:p>
          <a:p>
            <a:pPr algn="l"/>
            <a:r>
              <a:rPr sz="1250" b="0" dirty="0">
                <a:solidFill>
                  <a:srgbClr val="232B36"/>
                </a:solidFill>
                <a:latin typeface="Aptos"/>
              </a:rPr>
              <a:t> Hardcoding every review rule creates</a:t>
            </a:r>
            <a:endParaRPr lang="en-US" sz="1250" b="0" dirty="0">
              <a:solidFill>
                <a:srgbClr val="232B36"/>
              </a:solidFill>
              <a:latin typeface="Aptos"/>
            </a:endParaRPr>
          </a:p>
          <a:p>
            <a:pPr algn="l"/>
            <a:r>
              <a:rPr sz="1250" b="0" dirty="0">
                <a:solidFill>
                  <a:srgbClr val="232B36"/>
                </a:solidFill>
                <a:latin typeface="Aptos"/>
              </a:rPr>
              <a:t> maintenance overhead.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325880"/>
            <a:ext cx="352044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343400" y="1325880"/>
            <a:ext cx="73152" cy="1828800"/>
          </a:xfrm>
          <a:prstGeom prst="rect">
            <a:avLst/>
          </a:prstGeom>
          <a:solidFill>
            <a:srgbClr val="2384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44568" y="1490472"/>
            <a:ext cx="315468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600" b="1">
                <a:solidFill>
                  <a:srgbClr val="141F30"/>
                </a:solidFill>
                <a:latin typeface="Aptos"/>
              </a:rPr>
              <a:t>Review effort is manual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44568" y="1892807"/>
            <a:ext cx="3238066" cy="66941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50" b="0" dirty="0">
                <a:solidFill>
                  <a:srgbClr val="232B36"/>
                </a:solidFill>
                <a:latin typeface="Aptos"/>
              </a:rPr>
              <a:t>Developers and reviewers spend time </a:t>
            </a:r>
            <a:endParaRPr lang="en-US" sz="1250" b="0" dirty="0">
              <a:solidFill>
                <a:srgbClr val="232B36"/>
              </a:solidFill>
              <a:latin typeface="Aptos"/>
            </a:endParaRPr>
          </a:p>
          <a:p>
            <a:pPr algn="l"/>
            <a:r>
              <a:rPr sz="1250" b="0" dirty="0">
                <a:solidFill>
                  <a:srgbClr val="232B36"/>
                </a:solidFill>
                <a:latin typeface="Aptos"/>
              </a:rPr>
              <a:t>checking repetitive standards and explaining</a:t>
            </a:r>
            <a:endParaRPr lang="en-US" sz="1250" b="0" dirty="0">
              <a:solidFill>
                <a:srgbClr val="232B36"/>
              </a:solidFill>
              <a:latin typeface="Aptos"/>
            </a:endParaRPr>
          </a:p>
          <a:p>
            <a:pPr algn="l"/>
            <a:r>
              <a:rPr sz="1250" b="0" dirty="0">
                <a:solidFill>
                  <a:srgbClr val="232B36"/>
                </a:solidFill>
                <a:latin typeface="Aptos"/>
              </a:rPr>
              <a:t>findings.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325880"/>
            <a:ext cx="352044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046720" y="1325880"/>
            <a:ext cx="73152" cy="1828800"/>
          </a:xfrm>
          <a:prstGeom prst="rect">
            <a:avLst/>
          </a:prstGeom>
          <a:solidFill>
            <a:srgbClr val="DC87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47888" y="1490472"/>
            <a:ext cx="315468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600" b="1">
                <a:solidFill>
                  <a:srgbClr val="141F30"/>
                </a:solidFill>
                <a:latin typeface="Aptos"/>
              </a:rPr>
              <a:t>Context matters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47888" y="1892807"/>
            <a:ext cx="3243901" cy="66941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50" b="0" dirty="0">
                <a:solidFill>
                  <a:srgbClr val="232B36"/>
                </a:solidFill>
                <a:latin typeface="Aptos"/>
              </a:rPr>
              <a:t>Some review findings need code context, </a:t>
            </a:r>
            <a:endParaRPr lang="en-US" sz="1250" b="0" dirty="0">
              <a:solidFill>
                <a:srgbClr val="232B36"/>
              </a:solidFill>
              <a:latin typeface="Aptos"/>
            </a:endParaRPr>
          </a:p>
          <a:p>
            <a:pPr algn="l"/>
            <a:r>
              <a:rPr sz="1250" b="0" dirty="0">
                <a:solidFill>
                  <a:srgbClr val="232B36"/>
                </a:solidFill>
                <a:latin typeface="Aptos"/>
              </a:rPr>
              <a:t>an explanation, and a practical</a:t>
            </a:r>
            <a:endParaRPr lang="en-US" sz="1250" b="0" dirty="0">
              <a:solidFill>
                <a:srgbClr val="232B36"/>
              </a:solidFill>
              <a:latin typeface="Aptos"/>
            </a:endParaRPr>
          </a:p>
          <a:p>
            <a:pPr algn="l"/>
            <a:r>
              <a:rPr sz="1250" b="0" dirty="0">
                <a:solidFill>
                  <a:srgbClr val="232B36"/>
                </a:solidFill>
                <a:latin typeface="Aptos"/>
              </a:rPr>
              <a:t>recommendation—not just a pattern match.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3749039"/>
            <a:ext cx="1828800" cy="3657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800" b="1">
                <a:solidFill>
                  <a:srgbClr val="141F30"/>
                </a:solidFill>
                <a:latin typeface="Aptos"/>
              </a:rPr>
              <a:t>Opportunity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4206240"/>
            <a:ext cx="10698480" cy="1554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232B36"/>
                </a:solidFill>
                <a:latin typeface="Aptos"/>
              </a:defRPr>
            </a:pPr>
            <a:r>
              <a:rPr dirty="0"/>
              <a:t>• Use an LLM to interpret the supplied standards in the context of PL/SQL code.</a:t>
            </a:r>
          </a:p>
          <a:p>
            <a:pPr>
              <a:spcAft>
                <a:spcPts val="800"/>
              </a:spcAft>
              <a:defRPr sz="1700">
                <a:solidFill>
                  <a:srgbClr val="232B36"/>
                </a:solidFill>
                <a:latin typeface="Aptos"/>
              </a:defRPr>
            </a:pPr>
            <a:r>
              <a:rPr dirty="0"/>
              <a:t>• Keep the review policy outside the application code.</a:t>
            </a:r>
          </a:p>
          <a:p>
            <a:pPr>
              <a:spcAft>
                <a:spcPts val="800"/>
              </a:spcAft>
              <a:defRPr sz="1700">
                <a:solidFill>
                  <a:srgbClr val="232B36"/>
                </a:solidFill>
                <a:latin typeface="Aptos"/>
              </a:defRPr>
            </a:pPr>
            <a:r>
              <a:rPr dirty="0"/>
              <a:t>• Return structured, actionable findings for developers.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6510528"/>
            <a:ext cx="9875520" cy="20116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850" b="0">
                <a:solidFill>
                  <a:srgbClr val="667280"/>
                </a:solidFill>
                <a:latin typeface="Aptos"/>
              </a:rPr>
              <a:t>Oracle PL/SQL Code Review Agent  |  G2E / US Office PoC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64240" y="6492240"/>
            <a:ext cx="45720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900" b="1">
                <a:solidFill>
                  <a:srgbClr val="667280"/>
                </a:solidFill>
                <a:latin typeface="Apto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700" b="1">
                <a:solidFill>
                  <a:srgbClr val="141F30"/>
                </a:solidFill>
                <a:latin typeface="Aptos"/>
              </a:rPr>
              <a:t>2. Proposed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41248"/>
            <a:ext cx="10789920" cy="34747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50" b="0">
                <a:solidFill>
                  <a:srgbClr val="667280"/>
                </a:solidFill>
                <a:latin typeface="Aptos"/>
              </a:rPr>
              <a:t>A standards-driven PL/SQL review workflow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28800"/>
            <a:ext cx="1828800" cy="1097280"/>
          </a:xfrm>
          <a:prstGeom prst="roundRect">
            <a:avLst/>
          </a:prstGeom>
          <a:solidFill>
            <a:srgbClr val="F4F7FA"/>
          </a:solidFill>
          <a:ln>
            <a:solidFill>
              <a:srgbClr val="306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13231" y="1901952"/>
            <a:ext cx="1682496" cy="95097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400" b="1">
                <a:solidFill>
                  <a:srgbClr val="141F30"/>
                </a:solidFill>
                <a:latin typeface="Aptos"/>
              </a:rPr>
              <a:t>1
Upload Standards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80360" y="1828800"/>
            <a:ext cx="1828800" cy="1097280"/>
          </a:xfrm>
          <a:prstGeom prst="roundRect">
            <a:avLst/>
          </a:prstGeom>
          <a:solidFill>
            <a:srgbClr val="F4F7FA"/>
          </a:solidFill>
          <a:ln>
            <a:solidFill>
              <a:srgbClr val="306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953512" y="1901952"/>
            <a:ext cx="1682496" cy="95097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400" b="1">
                <a:solidFill>
                  <a:srgbClr val="141F30"/>
                </a:solidFill>
                <a:latin typeface="Aptos"/>
              </a:rPr>
              <a:t>2
Provide PL/SQL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120640" y="1828800"/>
            <a:ext cx="1828800" cy="1097280"/>
          </a:xfrm>
          <a:prstGeom prst="roundRect">
            <a:avLst/>
          </a:prstGeom>
          <a:solidFill>
            <a:srgbClr val="F4F7FA"/>
          </a:solidFill>
          <a:ln>
            <a:solidFill>
              <a:srgbClr val="2384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193792" y="1901952"/>
            <a:ext cx="1682496" cy="95097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400" b="1">
                <a:solidFill>
                  <a:srgbClr val="141F30"/>
                </a:solidFill>
                <a:latin typeface="Aptos"/>
              </a:rPr>
              <a:t>3
Extract Standards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60920" y="1828800"/>
            <a:ext cx="1828800" cy="1097280"/>
          </a:xfrm>
          <a:prstGeom prst="roundRect">
            <a:avLst/>
          </a:prstGeom>
          <a:solidFill>
            <a:srgbClr val="F4F7FA"/>
          </a:solidFill>
          <a:ln>
            <a:solidFill>
              <a:srgbClr val="2384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434072" y="1901952"/>
            <a:ext cx="1682496" cy="95097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400" b="1">
                <a:solidFill>
                  <a:srgbClr val="141F30"/>
                </a:solidFill>
                <a:latin typeface="Aptos"/>
              </a:rPr>
              <a:t>4
LLM Review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601200" y="1828800"/>
            <a:ext cx="1828800" cy="1097280"/>
          </a:xfrm>
          <a:prstGeom prst="roundRect">
            <a:avLst/>
          </a:prstGeom>
          <a:solidFill>
            <a:srgbClr val="F4F7FA"/>
          </a:solidFill>
          <a:ln>
            <a:solidFill>
              <a:srgbClr val="DC87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674352" y="1901952"/>
            <a:ext cx="1682496" cy="95097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400" b="1">
                <a:solidFill>
                  <a:srgbClr val="141F30"/>
                </a:solidFill>
                <a:latin typeface="Aptos"/>
              </a:rPr>
              <a:t>5
Structured Findings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468880" y="2377440"/>
            <a:ext cx="411480" cy="0"/>
          </a:xfrm>
          <a:prstGeom prst="line">
            <a:avLst/>
          </a:prstGeom>
          <a:ln w="19050">
            <a:solidFill>
              <a:srgbClr val="66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4709160" y="2377440"/>
            <a:ext cx="411480" cy="0"/>
          </a:xfrm>
          <a:prstGeom prst="line">
            <a:avLst/>
          </a:prstGeom>
          <a:ln w="19050">
            <a:solidFill>
              <a:srgbClr val="66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6949440" y="2377440"/>
            <a:ext cx="411479" cy="0"/>
          </a:xfrm>
          <a:prstGeom prst="line">
            <a:avLst/>
          </a:prstGeom>
          <a:ln w="19050">
            <a:solidFill>
              <a:srgbClr val="66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9189720" y="2377440"/>
            <a:ext cx="411480" cy="0"/>
          </a:xfrm>
          <a:prstGeom prst="line">
            <a:avLst/>
          </a:prstGeom>
          <a:ln w="19050">
            <a:solidFill>
              <a:srgbClr val="66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685800" y="3794760"/>
            <a:ext cx="2743200" cy="3657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800" b="1">
                <a:solidFill>
                  <a:srgbClr val="141F30"/>
                </a:solidFill>
                <a:latin typeface="Aptos"/>
              </a:rPr>
              <a:t>Core design principle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4343400"/>
            <a:ext cx="10424160" cy="8229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900" b="0">
                <a:solidFill>
                  <a:srgbClr val="232B36"/>
                </a:solidFill>
                <a:latin typeface="Aptos"/>
              </a:rPr>
              <a:t>The coding policy is externalized. The current standards document is read at review time and supplied to the LLM as context.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5394960"/>
            <a:ext cx="10515600" cy="4114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800" b="1" dirty="0">
                <a:solidFill>
                  <a:srgbClr val="238480"/>
                </a:solidFill>
                <a:latin typeface="Aptos"/>
              </a:rPr>
              <a:t>Result: standards can change without changing the Python review logic.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6510528"/>
            <a:ext cx="9875520" cy="20116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850" b="0">
                <a:solidFill>
                  <a:srgbClr val="667280"/>
                </a:solidFill>
                <a:latin typeface="Aptos"/>
              </a:rPr>
              <a:t>Oracle PL/SQL Code Review Agent  |  G2E / US Office PoC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64240" y="6492240"/>
            <a:ext cx="45720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900" b="1">
                <a:solidFill>
                  <a:srgbClr val="667280"/>
                </a:solidFill>
                <a:latin typeface="Apto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700" b="1">
                <a:solidFill>
                  <a:srgbClr val="141F30"/>
                </a:solidFill>
                <a:latin typeface="Aptos"/>
              </a:rPr>
              <a:t>3. PoC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41248"/>
            <a:ext cx="10789920" cy="34747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50" b="0">
                <a:solidFill>
                  <a:srgbClr val="667280"/>
                </a:solidFill>
                <a:latin typeface="Aptos"/>
              </a:rPr>
              <a:t>What each component is responsible for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28800"/>
            <a:ext cx="1645920" cy="868680"/>
          </a:xfrm>
          <a:prstGeom prst="roundRect">
            <a:avLst/>
          </a:prstGeom>
          <a:solidFill>
            <a:srgbClr val="F4F7FA"/>
          </a:solidFill>
          <a:ln>
            <a:solidFill>
              <a:srgbClr val="306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13231" y="1901952"/>
            <a:ext cx="1499616" cy="722375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350" b="1">
                <a:solidFill>
                  <a:srgbClr val="141F30"/>
                </a:solidFill>
                <a:latin typeface="Aptos"/>
              </a:rPr>
              <a:t>Standards
DOCX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3749039"/>
            <a:ext cx="1645920" cy="868680"/>
          </a:xfrm>
          <a:prstGeom prst="roundRect">
            <a:avLst/>
          </a:prstGeom>
          <a:solidFill>
            <a:srgbClr val="F4F7FA"/>
          </a:solidFill>
          <a:ln>
            <a:solidFill>
              <a:srgbClr val="306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13231" y="3822191"/>
            <a:ext cx="1499616" cy="722375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350" b="1" dirty="0">
                <a:solidFill>
                  <a:srgbClr val="141F30"/>
                </a:solidFill>
                <a:latin typeface="Aptos"/>
              </a:rPr>
              <a:t>PL/SQL
Source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43200" y="1600200"/>
            <a:ext cx="2011680" cy="914400"/>
          </a:xfrm>
          <a:prstGeom prst="roundRect">
            <a:avLst/>
          </a:prstGeom>
          <a:solidFill>
            <a:srgbClr val="F4F7FA"/>
          </a:solidFill>
          <a:ln>
            <a:solidFill>
              <a:srgbClr val="306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816352" y="1673352"/>
            <a:ext cx="1865376" cy="7680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200" b="1">
                <a:solidFill>
                  <a:srgbClr val="141F30"/>
                </a:solidFill>
                <a:latin typeface="Aptos"/>
              </a:rPr>
              <a:t>standards_reader.py
Read DOCX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43200" y="2880360"/>
            <a:ext cx="2011680" cy="914400"/>
          </a:xfrm>
          <a:prstGeom prst="roundRect">
            <a:avLst/>
          </a:prstGeom>
          <a:solidFill>
            <a:srgbClr val="F4F7FA"/>
          </a:solidFill>
          <a:ln>
            <a:solidFill>
              <a:srgbClr val="2384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816352" y="2953512"/>
            <a:ext cx="1865376" cy="7680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200" b="1">
                <a:solidFill>
                  <a:srgbClr val="141F30"/>
                </a:solidFill>
                <a:latin typeface="Aptos"/>
              </a:rPr>
              <a:t>rule_extractor.py
Create StandardRule[]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0" y="2240280"/>
            <a:ext cx="2011680" cy="914400"/>
          </a:xfrm>
          <a:prstGeom prst="roundRect">
            <a:avLst/>
          </a:prstGeom>
          <a:solidFill>
            <a:srgbClr val="F4F7FA"/>
          </a:solidFill>
          <a:ln>
            <a:solidFill>
              <a:srgbClr val="2384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559552" y="2313432"/>
            <a:ext cx="1865376" cy="7680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200" b="1" dirty="0">
                <a:solidFill>
                  <a:srgbClr val="141F30"/>
                </a:solidFill>
                <a:latin typeface="Aptos"/>
              </a:rPr>
              <a:t>llm_reviewer.py
Build review context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0" y="2240280"/>
            <a:ext cx="1828800" cy="914400"/>
          </a:xfrm>
          <a:prstGeom prst="roundRect">
            <a:avLst/>
          </a:prstGeom>
          <a:solidFill>
            <a:srgbClr val="F4F7FA"/>
          </a:solidFill>
          <a:ln>
            <a:solidFill>
              <a:srgbClr val="DC87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302752" y="2313432"/>
            <a:ext cx="1682496" cy="7680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300" b="1">
                <a:solidFill>
                  <a:srgbClr val="141F30"/>
                </a:solidFill>
                <a:latin typeface="Aptos"/>
              </a:rPr>
              <a:t>Groq LLM
Structured JSON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287000" y="2240280"/>
            <a:ext cx="1325880" cy="914400"/>
          </a:xfrm>
          <a:prstGeom prst="roundRect">
            <a:avLst/>
          </a:prstGeom>
          <a:solidFill>
            <a:srgbClr val="F4F7FA"/>
          </a:solidFill>
          <a:ln>
            <a:solidFill>
              <a:srgbClr val="306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360152" y="2313432"/>
            <a:ext cx="1179576" cy="7680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200" b="1">
                <a:solidFill>
                  <a:srgbClr val="141F30"/>
                </a:solidFill>
                <a:latin typeface="Aptos"/>
              </a:rPr>
              <a:t>Streamlit
Dashboard</a:t>
            </a:r>
          </a:p>
        </p:txBody>
      </p:sp>
      <p:cxnSp>
        <p:nvCxnSpPr>
          <p:cNvPr id="19" name="Connector 18"/>
          <p:cNvCxnSpPr/>
          <p:nvPr/>
        </p:nvCxnSpPr>
        <p:spPr>
          <a:xfrm flipV="1">
            <a:off x="2286000" y="2057400"/>
            <a:ext cx="457200" cy="210312"/>
          </a:xfrm>
          <a:prstGeom prst="line">
            <a:avLst/>
          </a:prstGeom>
          <a:ln w="19050">
            <a:solidFill>
              <a:srgbClr val="66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2286000" y="2697480"/>
            <a:ext cx="3200400" cy="1490472"/>
          </a:xfrm>
          <a:prstGeom prst="line">
            <a:avLst/>
          </a:prstGeom>
          <a:ln w="19050">
            <a:solidFill>
              <a:srgbClr val="66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3749039" y="2514600"/>
            <a:ext cx="1737361" cy="182880"/>
          </a:xfrm>
          <a:prstGeom prst="line">
            <a:avLst/>
          </a:prstGeom>
          <a:ln w="19050">
            <a:solidFill>
              <a:srgbClr val="66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7498079" y="2697480"/>
            <a:ext cx="731521" cy="0"/>
          </a:xfrm>
          <a:prstGeom prst="line">
            <a:avLst/>
          </a:prstGeom>
          <a:ln w="19050">
            <a:solidFill>
              <a:srgbClr val="66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10058400" y="2697480"/>
            <a:ext cx="228600" cy="0"/>
          </a:xfrm>
          <a:prstGeom prst="line">
            <a:avLst/>
          </a:prstGeom>
          <a:ln w="19050">
            <a:solidFill>
              <a:srgbClr val="66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2697480" y="4800600"/>
            <a:ext cx="8961120" cy="5943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500" b="0">
                <a:solidFill>
                  <a:srgbClr val="232B36"/>
                </a:solidFill>
                <a:latin typeface="Aptos"/>
              </a:rPr>
              <a:t>Structured output fields include Rule ID, severity, line, code, issue, standard and recommendation.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6510528"/>
            <a:ext cx="9875520" cy="20116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850" b="0">
                <a:solidFill>
                  <a:srgbClr val="667280"/>
                </a:solidFill>
                <a:latin typeface="Aptos"/>
              </a:rPr>
              <a:t>Oracle PL/SQL Code Review Agent  |  G2E / US Office PoC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64240" y="6492240"/>
            <a:ext cx="45720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900" b="1">
                <a:solidFill>
                  <a:srgbClr val="667280"/>
                </a:solidFill>
                <a:latin typeface="Aptos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700" b="1" dirty="0">
                <a:solidFill>
                  <a:srgbClr val="141F30"/>
                </a:solidFill>
                <a:latin typeface="Aptos"/>
              </a:rPr>
              <a:t>4. </a:t>
            </a:r>
            <a:r>
              <a:rPr lang="en-IN" sz="2700" b="1" dirty="0">
                <a:solidFill>
                  <a:srgbClr val="141F30"/>
                </a:solidFill>
                <a:latin typeface="Aptos"/>
              </a:rPr>
              <a:t>Live Demo</a:t>
            </a:r>
            <a:endParaRPr sz="2700" b="1" dirty="0">
              <a:solidFill>
                <a:srgbClr val="141F30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21792" y="841248"/>
            <a:ext cx="10789920" cy="34747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50" b="0">
                <a:solidFill>
                  <a:srgbClr val="667280"/>
                </a:solidFill>
                <a:latin typeface="Aptos"/>
              </a:rPr>
              <a:t>The strongest proof point: change the standard, not the application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325880"/>
            <a:ext cx="333756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85800" y="1325880"/>
            <a:ext cx="73152" cy="1828800"/>
          </a:xfrm>
          <a:prstGeom prst="rect">
            <a:avLst/>
          </a:prstGeom>
          <a:solidFill>
            <a:srgbClr val="328C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86968" y="1490472"/>
            <a:ext cx="297180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600" b="1">
                <a:solidFill>
                  <a:srgbClr val="141F30"/>
                </a:solidFill>
                <a:latin typeface="Aptos"/>
              </a:rPr>
              <a:t>Scenario A — Standard V1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1892807"/>
            <a:ext cx="2971800" cy="11430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50" b="0" dirty="0">
                <a:solidFill>
                  <a:srgbClr val="232B36"/>
                </a:solidFill>
                <a:latin typeface="Aptos"/>
              </a:rPr>
              <a:t>DOCX says:
Local Variable → l_
Code uses:
</a:t>
            </a:r>
            <a:r>
              <a:rPr sz="1250" b="0" dirty="0" err="1">
                <a:solidFill>
                  <a:srgbClr val="232B36"/>
                </a:solidFill>
                <a:latin typeface="Aptos"/>
              </a:rPr>
              <a:t>l_employee_name</a:t>
            </a:r>
            <a:endParaRPr sz="1250" b="0" dirty="0">
              <a:solidFill>
                <a:srgbClr val="232B36"/>
              </a:solidFill>
              <a:latin typeface="Aptos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4434840" y="1325880"/>
            <a:ext cx="333756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434840" y="1325880"/>
            <a:ext cx="73152" cy="1828800"/>
          </a:xfrm>
          <a:prstGeom prst="rect">
            <a:avLst/>
          </a:prstGeom>
          <a:solidFill>
            <a:srgbClr val="328C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636007" y="1490472"/>
            <a:ext cx="297180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600" b="1">
                <a:solidFill>
                  <a:srgbClr val="141F30"/>
                </a:solidFill>
                <a:latin typeface="Aptos"/>
              </a:rPr>
              <a:t>Result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36007" y="1892807"/>
            <a:ext cx="2971800" cy="11430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50" b="0" dirty="0">
                <a:solidFill>
                  <a:srgbClr val="232B36"/>
                </a:solidFill>
                <a:latin typeface="Aptos"/>
              </a:rPr>
              <a:t>No violation
Same Python
Same PL/SQL
The code complies with the supplied standard.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83879" y="1325880"/>
            <a:ext cx="333756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183879" y="1325880"/>
            <a:ext cx="73152" cy="1828800"/>
          </a:xfrm>
          <a:prstGeom prst="rect">
            <a:avLst/>
          </a:prstGeom>
          <a:solidFill>
            <a:srgbClr val="DC87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385048" y="1490472"/>
            <a:ext cx="297180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600" b="1">
                <a:solidFill>
                  <a:srgbClr val="141F30"/>
                </a:solidFill>
                <a:latin typeface="Aptos"/>
              </a:rPr>
              <a:t>Scenario B — Standard V2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85048" y="1892807"/>
            <a:ext cx="2971800" cy="11430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50" b="0">
                <a:solidFill>
                  <a:srgbClr val="232B36"/>
                </a:solidFill>
                <a:latin typeface="Aptos"/>
              </a:rPr>
              <a:t>DOCX changes:
Local Variable → lv_
Same code remains:
l_employee_name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023360" y="2240280"/>
            <a:ext cx="365760" cy="0"/>
          </a:xfrm>
          <a:prstGeom prst="line">
            <a:avLst/>
          </a:prstGeom>
          <a:ln w="19050">
            <a:solidFill>
              <a:srgbClr val="66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7772400" y="2240280"/>
            <a:ext cx="365760" cy="0"/>
          </a:xfrm>
          <a:prstGeom prst="line">
            <a:avLst/>
          </a:prstGeom>
          <a:ln w="19050">
            <a:solidFill>
              <a:srgbClr val="66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731520" y="3749039"/>
            <a:ext cx="5486400" cy="3657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800" b="1">
                <a:solidFill>
                  <a:srgbClr val="141F30"/>
                </a:solidFill>
                <a:latin typeface="Aptos"/>
              </a:rPr>
              <a:t>Observed result after changing only the DOCX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4389120"/>
            <a:ext cx="320040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500" b="1">
                <a:solidFill>
                  <a:srgbClr val="DC872D"/>
                </a:solidFill>
                <a:latin typeface="Aptos"/>
              </a:rPr>
              <a:t>Violation detected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5029200"/>
            <a:ext cx="10241280" cy="6858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700" b="0" dirty="0">
                <a:solidFill>
                  <a:srgbClr val="232B36"/>
                </a:solidFill>
                <a:latin typeface="Aptos"/>
              </a:rPr>
              <a:t>The LLM reports that </a:t>
            </a:r>
            <a:r>
              <a:rPr sz="1700" b="0" dirty="0" err="1">
                <a:solidFill>
                  <a:srgbClr val="232B36"/>
                </a:solidFill>
                <a:latin typeface="Aptos"/>
              </a:rPr>
              <a:t>l_employee_name</a:t>
            </a:r>
            <a:r>
              <a:rPr sz="1700" b="0" dirty="0">
                <a:solidFill>
                  <a:srgbClr val="232B36"/>
                </a:solidFill>
                <a:latin typeface="Aptos"/>
              </a:rPr>
              <a:t> does not meet the new lv_ standard and provides a recommendation.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5806440"/>
            <a:ext cx="10515600" cy="3657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700" b="1">
                <a:solidFill>
                  <a:srgbClr val="238480"/>
                </a:solidFill>
                <a:latin typeface="Aptos"/>
              </a:rPr>
              <a:t>Key message: policy change → review behavior change → no Python code change.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6510528"/>
            <a:ext cx="9875520" cy="20116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850" b="0">
                <a:solidFill>
                  <a:srgbClr val="667280"/>
                </a:solidFill>
                <a:latin typeface="Aptos"/>
              </a:rPr>
              <a:t>Oracle PL/SQL Code Review Agent  |  G2E / US Office PoC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64240" y="6492240"/>
            <a:ext cx="45720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900" b="1">
                <a:solidFill>
                  <a:srgbClr val="667280"/>
                </a:solidFill>
                <a:latin typeface="Aptos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2BF8AF-9162-FA20-8E09-F9F6E55260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C32D9C8-DF59-0299-E625-84641C4FB838}"/>
              </a:ext>
            </a:extLst>
          </p:cNvPr>
          <p:cNvSpPr txBox="1"/>
          <p:nvPr/>
        </p:nvSpPr>
        <p:spPr>
          <a:xfrm>
            <a:off x="594360" y="320040"/>
            <a:ext cx="3493649" cy="507831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700" b="1" dirty="0">
                <a:solidFill>
                  <a:srgbClr val="141F30"/>
                </a:solidFill>
                <a:latin typeface="Aptos"/>
              </a:rPr>
              <a:t>4.</a:t>
            </a:r>
            <a:r>
              <a:rPr lang="en-US" sz="2700" b="1" dirty="0">
                <a:solidFill>
                  <a:srgbClr val="141F30"/>
                </a:solidFill>
                <a:latin typeface="Aptos"/>
              </a:rPr>
              <a:t>1</a:t>
            </a:r>
            <a:r>
              <a:rPr sz="2700" b="1" dirty="0">
                <a:solidFill>
                  <a:srgbClr val="141F30"/>
                </a:solidFill>
                <a:latin typeface="Aptos"/>
              </a:rPr>
              <a:t> </a:t>
            </a:r>
            <a:r>
              <a:rPr lang="en-US" sz="2700" b="1" dirty="0">
                <a:solidFill>
                  <a:srgbClr val="141F30"/>
                </a:solidFill>
                <a:latin typeface="Aptos"/>
              </a:rPr>
              <a:t>POC Screenshots</a:t>
            </a:r>
            <a:endParaRPr sz="2700" b="1" dirty="0">
              <a:solidFill>
                <a:srgbClr val="141F30"/>
              </a:solidFill>
              <a:latin typeface="Aptos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BBFB4B5-0771-2C2B-D978-8B96F8E9789D}"/>
              </a:ext>
            </a:extLst>
          </p:cNvPr>
          <p:cNvSpPr txBox="1"/>
          <p:nvPr/>
        </p:nvSpPr>
        <p:spPr>
          <a:xfrm>
            <a:off x="594360" y="6510528"/>
            <a:ext cx="9875520" cy="20116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850" b="0">
                <a:solidFill>
                  <a:srgbClr val="667280"/>
                </a:solidFill>
                <a:latin typeface="Aptos"/>
              </a:rPr>
              <a:t>Oracle PL/SQL Code Review Agent  |  G2E / US Office PoC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5063462-909A-13AD-4056-8DDCB9462153}"/>
              </a:ext>
            </a:extLst>
          </p:cNvPr>
          <p:cNvSpPr txBox="1"/>
          <p:nvPr/>
        </p:nvSpPr>
        <p:spPr>
          <a:xfrm>
            <a:off x="11064240" y="6492240"/>
            <a:ext cx="45720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900" b="1">
                <a:solidFill>
                  <a:srgbClr val="667280"/>
                </a:solidFill>
                <a:latin typeface="Aptos"/>
              </a:rPr>
              <a:t>5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3FFF0E51-6719-E4A2-6F12-79C7E325F0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6656" y="1222744"/>
            <a:ext cx="9923063" cy="47314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89964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2813A6-ACFB-A560-AC63-4DFB22E9C1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776DB43-F08D-627B-394D-22662622A870}"/>
              </a:ext>
            </a:extLst>
          </p:cNvPr>
          <p:cNvSpPr txBox="1"/>
          <p:nvPr/>
        </p:nvSpPr>
        <p:spPr>
          <a:xfrm>
            <a:off x="594360" y="320040"/>
            <a:ext cx="3493649" cy="507831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700" b="1" dirty="0">
                <a:solidFill>
                  <a:srgbClr val="141F30"/>
                </a:solidFill>
                <a:latin typeface="Aptos"/>
              </a:rPr>
              <a:t>4.</a:t>
            </a:r>
            <a:r>
              <a:rPr lang="en-US" sz="2700" b="1" dirty="0">
                <a:solidFill>
                  <a:srgbClr val="141F30"/>
                </a:solidFill>
                <a:latin typeface="Aptos"/>
              </a:rPr>
              <a:t>2</a:t>
            </a:r>
            <a:r>
              <a:rPr sz="2700" b="1" dirty="0">
                <a:solidFill>
                  <a:srgbClr val="141F30"/>
                </a:solidFill>
                <a:latin typeface="Aptos"/>
              </a:rPr>
              <a:t> </a:t>
            </a:r>
            <a:r>
              <a:rPr lang="en-US" sz="2700" b="1" dirty="0">
                <a:solidFill>
                  <a:srgbClr val="141F30"/>
                </a:solidFill>
                <a:latin typeface="Aptos"/>
              </a:rPr>
              <a:t>POC Screenshots</a:t>
            </a:r>
            <a:endParaRPr sz="2700" b="1" dirty="0">
              <a:solidFill>
                <a:srgbClr val="141F30"/>
              </a:solidFill>
              <a:latin typeface="Aptos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61AB206-0BFA-651E-EB58-C7E1488A4636}"/>
              </a:ext>
            </a:extLst>
          </p:cNvPr>
          <p:cNvSpPr txBox="1"/>
          <p:nvPr/>
        </p:nvSpPr>
        <p:spPr>
          <a:xfrm>
            <a:off x="594360" y="6510528"/>
            <a:ext cx="9875520" cy="20116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850" b="0">
                <a:solidFill>
                  <a:srgbClr val="667280"/>
                </a:solidFill>
                <a:latin typeface="Aptos"/>
              </a:rPr>
              <a:t>Oracle PL/SQL Code Review Agent  |  G2E / US Office PoC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84101CB-5370-D866-6085-8FCD34650912}"/>
              </a:ext>
            </a:extLst>
          </p:cNvPr>
          <p:cNvSpPr txBox="1"/>
          <p:nvPr/>
        </p:nvSpPr>
        <p:spPr>
          <a:xfrm>
            <a:off x="11064240" y="6492240"/>
            <a:ext cx="45720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900" b="1">
                <a:solidFill>
                  <a:srgbClr val="667280"/>
                </a:solidFill>
                <a:latin typeface="Aptos"/>
              </a:rPr>
              <a:t>5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00FE40C-7F6E-7AFD-01FC-1B2D2DC6BF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144892"/>
            <a:ext cx="11597640" cy="4814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42347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B6289C-A320-EF44-E42A-A5AEBA5C5A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73E122D-748E-A79C-8E15-6A760ADF09E3}"/>
              </a:ext>
            </a:extLst>
          </p:cNvPr>
          <p:cNvSpPr txBox="1"/>
          <p:nvPr/>
        </p:nvSpPr>
        <p:spPr>
          <a:xfrm>
            <a:off x="594360" y="320040"/>
            <a:ext cx="3493649" cy="507831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700" b="1" dirty="0">
                <a:solidFill>
                  <a:srgbClr val="141F30"/>
                </a:solidFill>
                <a:latin typeface="Aptos"/>
              </a:rPr>
              <a:t>4.</a:t>
            </a:r>
            <a:r>
              <a:rPr lang="en-US" sz="2700" b="1" dirty="0">
                <a:solidFill>
                  <a:srgbClr val="141F30"/>
                </a:solidFill>
                <a:latin typeface="Aptos"/>
              </a:rPr>
              <a:t>3</a:t>
            </a:r>
            <a:r>
              <a:rPr sz="2700" b="1" dirty="0">
                <a:solidFill>
                  <a:srgbClr val="141F30"/>
                </a:solidFill>
                <a:latin typeface="Aptos"/>
              </a:rPr>
              <a:t> </a:t>
            </a:r>
            <a:r>
              <a:rPr lang="en-US" sz="2700" b="1" dirty="0">
                <a:solidFill>
                  <a:srgbClr val="141F30"/>
                </a:solidFill>
                <a:latin typeface="Aptos"/>
              </a:rPr>
              <a:t>POC Screenshots</a:t>
            </a:r>
            <a:endParaRPr sz="2700" b="1" dirty="0">
              <a:solidFill>
                <a:srgbClr val="141F30"/>
              </a:solidFill>
              <a:latin typeface="Aptos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482A88C-CFC4-2730-150A-FFC786ABEA77}"/>
              </a:ext>
            </a:extLst>
          </p:cNvPr>
          <p:cNvSpPr txBox="1"/>
          <p:nvPr/>
        </p:nvSpPr>
        <p:spPr>
          <a:xfrm>
            <a:off x="594360" y="6510528"/>
            <a:ext cx="9875520" cy="20116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850" b="0">
                <a:solidFill>
                  <a:srgbClr val="667280"/>
                </a:solidFill>
                <a:latin typeface="Aptos"/>
              </a:rPr>
              <a:t>Oracle PL/SQL Code Review Agent  |  G2E / US Office PoC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683C62E-A317-0822-A71A-9CA7BE3AC661}"/>
              </a:ext>
            </a:extLst>
          </p:cNvPr>
          <p:cNvSpPr txBox="1"/>
          <p:nvPr/>
        </p:nvSpPr>
        <p:spPr>
          <a:xfrm>
            <a:off x="11064240" y="6492240"/>
            <a:ext cx="45720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900" b="1">
                <a:solidFill>
                  <a:srgbClr val="667280"/>
                </a:solidFill>
                <a:latin typeface="Aptos"/>
              </a:rPr>
              <a:t>5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EAE01E3-BEB0-6DE5-5384-7BF120AAF3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917648"/>
            <a:ext cx="11597640" cy="5294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2374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1872E7-5F89-4A1A-8DBD-98C946C504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4A02D7B-D43B-722A-2E12-7B3E319ABDA0}"/>
              </a:ext>
            </a:extLst>
          </p:cNvPr>
          <p:cNvSpPr txBox="1"/>
          <p:nvPr/>
        </p:nvSpPr>
        <p:spPr>
          <a:xfrm>
            <a:off x="594360" y="320040"/>
            <a:ext cx="3493649" cy="507831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700" b="1" dirty="0">
                <a:solidFill>
                  <a:srgbClr val="141F30"/>
                </a:solidFill>
                <a:latin typeface="Aptos"/>
              </a:rPr>
              <a:t>4.</a:t>
            </a:r>
            <a:r>
              <a:rPr lang="en-US" sz="2700" b="1" dirty="0">
                <a:solidFill>
                  <a:srgbClr val="141F30"/>
                </a:solidFill>
                <a:latin typeface="Aptos"/>
              </a:rPr>
              <a:t>4</a:t>
            </a:r>
            <a:r>
              <a:rPr sz="2700" b="1" dirty="0">
                <a:solidFill>
                  <a:srgbClr val="141F30"/>
                </a:solidFill>
                <a:latin typeface="Aptos"/>
              </a:rPr>
              <a:t> </a:t>
            </a:r>
            <a:r>
              <a:rPr lang="en-US" sz="2700" b="1" dirty="0">
                <a:solidFill>
                  <a:srgbClr val="141F30"/>
                </a:solidFill>
                <a:latin typeface="Aptos"/>
              </a:rPr>
              <a:t>POC Screenshots</a:t>
            </a:r>
            <a:endParaRPr sz="2700" b="1" dirty="0">
              <a:solidFill>
                <a:srgbClr val="141F30"/>
              </a:solidFill>
              <a:latin typeface="Aptos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7EE6BDB-6E0E-4300-DB15-F01734EFCF83}"/>
              </a:ext>
            </a:extLst>
          </p:cNvPr>
          <p:cNvSpPr txBox="1"/>
          <p:nvPr/>
        </p:nvSpPr>
        <p:spPr>
          <a:xfrm>
            <a:off x="594360" y="6510528"/>
            <a:ext cx="9875520" cy="20116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850" b="0">
                <a:solidFill>
                  <a:srgbClr val="667280"/>
                </a:solidFill>
                <a:latin typeface="Aptos"/>
              </a:rPr>
              <a:t>Oracle PL/SQL Code Review Agent  |  G2E / US Office PoC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D281CD1-C9C7-1149-62B0-571D66A6C744}"/>
              </a:ext>
            </a:extLst>
          </p:cNvPr>
          <p:cNvSpPr txBox="1"/>
          <p:nvPr/>
        </p:nvSpPr>
        <p:spPr>
          <a:xfrm>
            <a:off x="11064240" y="6492240"/>
            <a:ext cx="45720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900" b="1">
                <a:solidFill>
                  <a:srgbClr val="667280"/>
                </a:solidFill>
                <a:latin typeface="Aptos"/>
              </a:rPr>
              <a:t>5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4BC3980-F88B-DDD6-DB79-D6D56DD117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6930" y="1004797"/>
            <a:ext cx="9906276" cy="4672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02895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700" b="1">
                <a:solidFill>
                  <a:srgbClr val="141F30"/>
                </a:solidFill>
                <a:latin typeface="Aptos"/>
              </a:rPr>
              <a:t>5. Review Output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41248"/>
            <a:ext cx="10789920" cy="34747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50" b="0">
                <a:solidFill>
                  <a:srgbClr val="667280"/>
                </a:solidFill>
                <a:latin typeface="Aptos"/>
              </a:rPr>
              <a:t>Actionable findings rather than a generic pass/fail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371600"/>
            <a:ext cx="1965960" cy="822960"/>
          </a:xfrm>
          <a:prstGeom prst="roundRect">
            <a:avLst/>
          </a:prstGeom>
          <a:solidFill>
            <a:srgbClr val="F4F7FA"/>
          </a:solidFill>
          <a:ln>
            <a:solidFill>
              <a:srgbClr val="306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58952" y="1444752"/>
            <a:ext cx="1819656" cy="67665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400" b="1">
                <a:solidFill>
                  <a:srgbClr val="141F30"/>
                </a:solidFill>
                <a:latin typeface="Aptos"/>
              </a:rPr>
              <a:t>Standards Loaded
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80360" y="1371600"/>
            <a:ext cx="1965960" cy="822960"/>
          </a:xfrm>
          <a:prstGeom prst="roundRect">
            <a:avLst/>
          </a:prstGeom>
          <a:solidFill>
            <a:srgbClr val="F4F7FA"/>
          </a:solidFill>
          <a:ln>
            <a:solidFill>
              <a:srgbClr val="DC87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953512" y="1444752"/>
            <a:ext cx="1819656" cy="67665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400" b="1">
                <a:solidFill>
                  <a:srgbClr val="141F30"/>
                </a:solidFill>
                <a:latin typeface="Aptos"/>
              </a:rPr>
              <a:t>Total Findings
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74920" y="1371600"/>
            <a:ext cx="1965960" cy="822960"/>
          </a:xfrm>
          <a:prstGeom prst="roundRect">
            <a:avLst/>
          </a:prstGeom>
          <a:solidFill>
            <a:srgbClr val="F4F7FA"/>
          </a:solidFill>
          <a:ln>
            <a:solidFill>
              <a:srgbClr val="BE41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148072" y="1444752"/>
            <a:ext cx="1819656" cy="67665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400" b="1">
                <a:solidFill>
                  <a:srgbClr val="141F30"/>
                </a:solidFill>
                <a:latin typeface="Aptos"/>
              </a:rPr>
              <a:t>High
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269480" y="1371600"/>
            <a:ext cx="1965960" cy="822960"/>
          </a:xfrm>
          <a:prstGeom prst="roundRect">
            <a:avLst/>
          </a:prstGeom>
          <a:solidFill>
            <a:srgbClr val="F4F7FA"/>
          </a:solidFill>
          <a:ln>
            <a:solidFill>
              <a:srgbClr val="DC87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342631" y="1444752"/>
            <a:ext cx="1819656" cy="67665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400" b="1">
                <a:solidFill>
                  <a:srgbClr val="141F30"/>
                </a:solidFill>
                <a:latin typeface="Aptos"/>
              </a:rPr>
              <a:t>Medium
3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464040" y="1371600"/>
            <a:ext cx="1965960" cy="822960"/>
          </a:xfrm>
          <a:prstGeom prst="roundRect">
            <a:avLst/>
          </a:prstGeom>
          <a:solidFill>
            <a:srgbClr val="F4F7FA"/>
          </a:solidFill>
          <a:ln>
            <a:solidFill>
              <a:srgbClr val="328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537192" y="1444752"/>
            <a:ext cx="1819656" cy="67665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400" b="1">
                <a:solidFill>
                  <a:srgbClr val="141F30"/>
                </a:solidFill>
                <a:latin typeface="Aptos"/>
              </a:rPr>
              <a:t>Low
0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2606040"/>
            <a:ext cx="107442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85800" y="2606040"/>
            <a:ext cx="73152" cy="1143000"/>
          </a:xfrm>
          <a:prstGeom prst="rect">
            <a:avLst/>
          </a:prstGeom>
          <a:solidFill>
            <a:srgbClr val="DC87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86968" y="2770632"/>
            <a:ext cx="1037844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600" b="1">
                <a:solidFill>
                  <a:srgbClr val="141F30"/>
                </a:solidFill>
                <a:latin typeface="Aptos"/>
              </a:rPr>
              <a:t>DOC-003 | MEDIUM | Line 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6968" y="3172968"/>
            <a:ext cx="1037844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50" b="0">
                <a:solidFill>
                  <a:srgbClr val="232B36"/>
                </a:solidFill>
                <a:latin typeface="Aptos"/>
              </a:rPr>
              <a:t>Parameter 'employee_id' does not use the required p_ prefix.
Recommendation: rename to p_employee_id.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3886200"/>
            <a:ext cx="107442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85800" y="3886200"/>
            <a:ext cx="73152" cy="1143000"/>
          </a:xfrm>
          <a:prstGeom prst="rect">
            <a:avLst/>
          </a:prstGeom>
          <a:solidFill>
            <a:srgbClr val="DC87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86968" y="4050791"/>
            <a:ext cx="1037844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600" b="1">
                <a:solidFill>
                  <a:srgbClr val="141F30"/>
                </a:solidFill>
                <a:latin typeface="Aptos"/>
              </a:rPr>
              <a:t>DOC-001 | MEDIUM | Line 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6968" y="4453128"/>
            <a:ext cx="1037844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50" b="0">
                <a:solidFill>
                  <a:srgbClr val="232B36"/>
                </a:solidFill>
                <a:latin typeface="Aptos"/>
              </a:rPr>
              <a:t>Local variable 'employee_name' does not use the required prefix.
Recommendation is tied to the standard supplied in the document.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85800" y="5166360"/>
            <a:ext cx="1074420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85800" y="5166360"/>
            <a:ext cx="73152" cy="914400"/>
          </a:xfrm>
          <a:prstGeom prst="rect">
            <a:avLst/>
          </a:prstGeom>
          <a:solidFill>
            <a:srgbClr val="DC87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86968" y="5330952"/>
            <a:ext cx="1037844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600" b="1">
                <a:solidFill>
                  <a:srgbClr val="141F30"/>
                </a:solidFill>
                <a:latin typeface="Aptos"/>
              </a:rPr>
              <a:t>DOC-001 | MEDIUM | Line 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6968" y="5733288"/>
            <a:ext cx="1037844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50" b="0">
                <a:solidFill>
                  <a:srgbClr val="232B36"/>
                </a:solidFill>
                <a:latin typeface="Aptos"/>
              </a:rPr>
              <a:t>Local variable 'bad_count' is reported with its source line and recommendation.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" y="6510528"/>
            <a:ext cx="9875520" cy="20116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850" b="0">
                <a:solidFill>
                  <a:srgbClr val="667280"/>
                </a:solidFill>
                <a:latin typeface="Aptos"/>
              </a:rPr>
              <a:t>Oracle PL/SQL Code Review Agent  |  G2E / US Office PoC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064240" y="6492240"/>
            <a:ext cx="45720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900" b="1">
                <a:solidFill>
                  <a:srgbClr val="667280"/>
                </a:solidFill>
                <a:latin typeface="Aptos"/>
              </a:rPr>
              <a:t>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700" b="1">
                <a:solidFill>
                  <a:srgbClr val="141F30"/>
                </a:solidFill>
                <a:latin typeface="Aptos"/>
              </a:rPr>
              <a:t>6. Why an LLM?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41248"/>
            <a:ext cx="10789920" cy="34747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50" b="0">
                <a:solidFill>
                  <a:srgbClr val="667280"/>
                </a:solidFill>
                <a:latin typeface="Aptos"/>
              </a:rPr>
              <a:t>Where LLM-based review adds value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325880"/>
            <a:ext cx="347472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85800" y="1325880"/>
            <a:ext cx="73152" cy="2148840"/>
          </a:xfrm>
          <a:prstGeom prst="rect">
            <a:avLst/>
          </a:prstGeom>
          <a:solidFill>
            <a:srgbClr val="306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86968" y="1490472"/>
            <a:ext cx="310896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600" b="1">
                <a:solidFill>
                  <a:srgbClr val="141F30"/>
                </a:solidFill>
                <a:latin typeface="Aptos"/>
              </a:rPr>
              <a:t>Rule-based checks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1892807"/>
            <a:ext cx="3108960" cy="1463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50" b="0">
                <a:solidFill>
                  <a:srgbClr val="232B36"/>
                </a:solidFill>
                <a:latin typeface="Aptos"/>
              </a:rPr>
              <a:t>Strong for deterministic patterns:
• Naming conventions
• Simple syntax/pattern validation
• Fast and predictable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325880"/>
            <a:ext cx="347472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343400" y="1325880"/>
            <a:ext cx="73152" cy="2148840"/>
          </a:xfrm>
          <a:prstGeom prst="rect">
            <a:avLst/>
          </a:prstGeom>
          <a:solidFill>
            <a:srgbClr val="2384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44568" y="1490472"/>
            <a:ext cx="310896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600" b="1">
                <a:solidFill>
                  <a:srgbClr val="141F30"/>
                </a:solidFill>
                <a:latin typeface="Aptos"/>
              </a:rPr>
              <a:t>LLM-based review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44568" y="1892807"/>
            <a:ext cx="3108960" cy="1463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50" b="0">
                <a:solidFill>
                  <a:srgbClr val="232B36"/>
                </a:solidFill>
                <a:latin typeface="Aptos"/>
              </a:rPr>
              <a:t>Useful when the rule needs context:
• Interpret the supplied standard
• Explain why code violates it
• Generate practical recommendations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01000" y="1325880"/>
            <a:ext cx="347472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001000" y="1325880"/>
            <a:ext cx="73152" cy="2148840"/>
          </a:xfrm>
          <a:prstGeom prst="rect">
            <a:avLst/>
          </a:prstGeom>
          <a:solidFill>
            <a:srgbClr val="DC87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02168" y="1490472"/>
            <a:ext cx="310896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600" b="1">
                <a:solidFill>
                  <a:srgbClr val="141F30"/>
                </a:solidFill>
                <a:latin typeface="Aptos"/>
              </a:rPr>
              <a:t>Future hybrid option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02168" y="1892807"/>
            <a:ext cx="3108960" cy="1463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50" b="0">
                <a:solidFill>
                  <a:srgbClr val="232B36"/>
                </a:solidFill>
                <a:latin typeface="Aptos"/>
              </a:rPr>
              <a:t>Production can combine both:
• Deterministic checks for certainty
• LLM for contextual review and explanation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3977639"/>
            <a:ext cx="1828800" cy="3657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800" b="1">
                <a:solidFill>
                  <a:srgbClr val="141F30"/>
                </a:solidFill>
                <a:latin typeface="Aptos"/>
              </a:rPr>
              <a:t>PoC choice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4526280"/>
            <a:ext cx="10424160" cy="6400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800" b="0">
                <a:solidFill>
                  <a:srgbClr val="232B36"/>
                </a:solidFill>
                <a:latin typeface="Aptos"/>
              </a:rPr>
              <a:t>This PoC intentionally keeps the review logic LLM-driven to demonstrate document-only policy changes.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6510528"/>
            <a:ext cx="9875520" cy="20116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850" b="0">
                <a:solidFill>
                  <a:srgbClr val="667280"/>
                </a:solidFill>
                <a:latin typeface="Aptos"/>
              </a:rPr>
              <a:t>Oracle PL/SQL Code Review Agent  |  G2E / US Office PoC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64240" y="6492240"/>
            <a:ext cx="45720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900" b="1">
                <a:solidFill>
                  <a:srgbClr val="667280"/>
                </a:solidFill>
                <a:latin typeface="Aptos"/>
              </a:rPr>
              <a:t>7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700" b="1">
                <a:solidFill>
                  <a:srgbClr val="141F30"/>
                </a:solidFill>
                <a:latin typeface="Aptos"/>
              </a:rPr>
              <a:t>7. Guardrails &amp; Limitations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41248"/>
            <a:ext cx="10789920" cy="34747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50" b="0">
                <a:solidFill>
                  <a:srgbClr val="667280"/>
                </a:solidFill>
                <a:latin typeface="Aptos"/>
              </a:rPr>
              <a:t>What the PoC does—and what it does not claim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325880"/>
            <a:ext cx="347472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85800" y="1325880"/>
            <a:ext cx="73152" cy="1965960"/>
          </a:xfrm>
          <a:prstGeom prst="rect">
            <a:avLst/>
          </a:prstGeom>
          <a:solidFill>
            <a:srgbClr val="306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86968" y="1490472"/>
            <a:ext cx="310896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600" b="1">
                <a:solidFill>
                  <a:srgbClr val="141F30"/>
                </a:solidFill>
                <a:latin typeface="Aptos"/>
              </a:rPr>
              <a:t>Grounding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1892807"/>
            <a:ext cx="2969339" cy="66941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50" b="0" dirty="0">
                <a:solidFill>
                  <a:srgbClr val="232B36"/>
                </a:solidFill>
                <a:latin typeface="Aptos"/>
              </a:rPr>
              <a:t>The prompt instructs the LLM to use only</a:t>
            </a:r>
            <a:endParaRPr lang="en-US" sz="1250" b="0" dirty="0">
              <a:solidFill>
                <a:srgbClr val="232B36"/>
              </a:solidFill>
              <a:latin typeface="Aptos"/>
            </a:endParaRPr>
          </a:p>
          <a:p>
            <a:pPr algn="l"/>
            <a:r>
              <a:rPr sz="1250" b="0" dirty="0">
                <a:solidFill>
                  <a:srgbClr val="232B36"/>
                </a:solidFill>
                <a:latin typeface="Aptos"/>
              </a:rPr>
              <a:t> supplied standards and to reference</a:t>
            </a:r>
            <a:endParaRPr lang="en-US" sz="1250" b="0" dirty="0">
              <a:solidFill>
                <a:srgbClr val="232B36"/>
              </a:solidFill>
              <a:latin typeface="Aptos"/>
            </a:endParaRPr>
          </a:p>
          <a:p>
            <a:pPr algn="l"/>
            <a:r>
              <a:rPr sz="1250" b="0" dirty="0">
                <a:solidFill>
                  <a:srgbClr val="232B36"/>
                </a:solidFill>
                <a:latin typeface="Aptos"/>
              </a:rPr>
              <a:t> a Rule ID for every finding.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325880"/>
            <a:ext cx="347472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343400" y="1325880"/>
            <a:ext cx="73152" cy="1965960"/>
          </a:xfrm>
          <a:prstGeom prst="rect">
            <a:avLst/>
          </a:prstGeom>
          <a:solidFill>
            <a:srgbClr val="2384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44568" y="1490472"/>
            <a:ext cx="310896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600" b="1">
                <a:solidFill>
                  <a:srgbClr val="141F30"/>
                </a:solidFill>
                <a:latin typeface="Aptos"/>
              </a:rPr>
              <a:t>Structured output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44568" y="1892807"/>
            <a:ext cx="3461653" cy="47705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50" b="0" dirty="0">
                <a:solidFill>
                  <a:srgbClr val="232B36"/>
                </a:solidFill>
                <a:latin typeface="Aptos"/>
              </a:rPr>
              <a:t>A strict JSON schema gives the application</a:t>
            </a:r>
            <a:endParaRPr lang="en-US" sz="1250" b="0" dirty="0">
              <a:solidFill>
                <a:srgbClr val="232B36"/>
              </a:solidFill>
              <a:latin typeface="Aptos"/>
            </a:endParaRPr>
          </a:p>
          <a:p>
            <a:pPr algn="l"/>
            <a:r>
              <a:rPr sz="1250" b="0" dirty="0">
                <a:solidFill>
                  <a:srgbClr val="232B36"/>
                </a:solidFill>
                <a:latin typeface="Aptos"/>
              </a:rPr>
              <a:t> a predictable result contract for the dashboard.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01000" y="1325880"/>
            <a:ext cx="347472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001000" y="1325880"/>
            <a:ext cx="73152" cy="1965960"/>
          </a:xfrm>
          <a:prstGeom prst="rect">
            <a:avLst/>
          </a:prstGeom>
          <a:solidFill>
            <a:srgbClr val="DC87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02168" y="1490472"/>
            <a:ext cx="310896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600" b="1">
                <a:solidFill>
                  <a:srgbClr val="141F30"/>
                </a:solidFill>
                <a:latin typeface="Aptos"/>
              </a:rPr>
              <a:t>Human review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02168" y="1892807"/>
            <a:ext cx="3229987" cy="66941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50" b="0" dirty="0">
                <a:solidFill>
                  <a:srgbClr val="232B36"/>
                </a:solidFill>
                <a:latin typeface="Aptos"/>
              </a:rPr>
              <a:t>The PoC is an assistant, not an autonomous </a:t>
            </a:r>
            <a:endParaRPr lang="en-US" sz="1250" b="0" dirty="0">
              <a:solidFill>
                <a:srgbClr val="232B36"/>
              </a:solidFill>
              <a:latin typeface="Aptos"/>
            </a:endParaRPr>
          </a:p>
          <a:p>
            <a:pPr algn="l"/>
            <a:r>
              <a:rPr sz="1250" b="0" dirty="0">
                <a:solidFill>
                  <a:srgbClr val="232B36"/>
                </a:solidFill>
                <a:latin typeface="Aptos"/>
              </a:rPr>
              <a:t>approval gate. Findings should be validated </a:t>
            </a:r>
            <a:endParaRPr lang="en-US" sz="1250" b="0" dirty="0">
              <a:solidFill>
                <a:srgbClr val="232B36"/>
              </a:solidFill>
              <a:latin typeface="Aptos"/>
            </a:endParaRPr>
          </a:p>
          <a:p>
            <a:pPr algn="l"/>
            <a:r>
              <a:rPr sz="1250" b="0" dirty="0">
                <a:solidFill>
                  <a:srgbClr val="232B36"/>
                </a:solidFill>
                <a:latin typeface="Aptos"/>
              </a:rPr>
              <a:t>before production use.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3703320"/>
            <a:ext cx="2743200" cy="3657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800" b="1">
                <a:solidFill>
                  <a:srgbClr val="141F30"/>
                </a:solidFill>
                <a:latin typeface="Aptos"/>
              </a:rPr>
              <a:t>Known PoC limitations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4160520"/>
            <a:ext cx="1033272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32B36"/>
                </a:solidFill>
                <a:latin typeface="Aptos"/>
              </a:defRPr>
            </a:pPr>
            <a:r>
              <a:t>• LLMs can still make incorrect judgments; evaluation and test suites are required.</a:t>
            </a:r>
          </a:p>
          <a:p>
            <a:pPr>
              <a:spcAft>
                <a:spcPts val="800"/>
              </a:spcAft>
              <a:defRPr sz="1600">
                <a:solidFill>
                  <a:srgbClr val="232B36"/>
                </a:solidFill>
                <a:latin typeface="Aptos"/>
              </a:defRPr>
            </a:pPr>
            <a:r>
              <a:t>• The current document parser is tailored to the prototype standards format.</a:t>
            </a:r>
          </a:p>
          <a:p>
            <a:pPr>
              <a:spcAft>
                <a:spcPts val="800"/>
              </a:spcAft>
              <a:defRPr sz="1600">
                <a:solidFill>
                  <a:srgbClr val="232B36"/>
                </a:solidFill>
                <a:latin typeface="Aptos"/>
              </a:defRPr>
            </a:pPr>
            <a:r>
              <a:t>• Confidential source code requires an approved/private model and security architecture before production.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6510528"/>
            <a:ext cx="9875520" cy="20116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850" b="0">
                <a:solidFill>
                  <a:srgbClr val="667280"/>
                </a:solidFill>
                <a:latin typeface="Aptos"/>
              </a:rPr>
              <a:t>Oracle PL/SQL Code Review Agent  |  G2E / US Office PoC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64240" y="6492240"/>
            <a:ext cx="45720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900" b="1">
                <a:solidFill>
                  <a:srgbClr val="667280"/>
                </a:solidFill>
                <a:latin typeface="Aptos"/>
              </a:rPr>
              <a:t>8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700" b="1">
                <a:solidFill>
                  <a:srgbClr val="141F30"/>
                </a:solidFill>
                <a:latin typeface="Aptos"/>
              </a:rPr>
              <a:t>8. Future Production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41248"/>
            <a:ext cx="10789920" cy="34747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50" b="0">
                <a:solidFill>
                  <a:srgbClr val="667280"/>
                </a:solidFill>
                <a:latin typeface="Aptos"/>
              </a:rPr>
              <a:t>A path from PoC to an internal developer capability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2286000"/>
            <a:ext cx="1645920" cy="822960"/>
          </a:xfrm>
          <a:prstGeom prst="roundRect">
            <a:avLst/>
          </a:prstGeom>
          <a:solidFill>
            <a:srgbClr val="F4F7FA"/>
          </a:solidFill>
          <a:ln>
            <a:solidFill>
              <a:srgbClr val="306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66377" y="2547439"/>
            <a:ext cx="1501885" cy="30008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350" b="1" dirty="0">
                <a:solidFill>
                  <a:srgbClr val="141F30"/>
                </a:solidFill>
                <a:latin typeface="Aptos"/>
              </a:rPr>
              <a:t>Developer / SVN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0" y="1325880"/>
            <a:ext cx="1737360" cy="822960"/>
          </a:xfrm>
          <a:prstGeom prst="roundRect">
            <a:avLst/>
          </a:prstGeom>
          <a:solidFill>
            <a:srgbClr val="F4F7FA"/>
          </a:solidFill>
          <a:ln>
            <a:solidFill>
              <a:srgbClr val="306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816352" y="1399032"/>
            <a:ext cx="1591056" cy="67665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350" b="1">
                <a:solidFill>
                  <a:srgbClr val="141F30"/>
                </a:solidFill>
                <a:latin typeface="Aptos"/>
              </a:rPr>
              <a:t>Standards
Repository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43200" y="3291840"/>
            <a:ext cx="1737360" cy="822960"/>
          </a:xfrm>
          <a:prstGeom prst="roundRect">
            <a:avLst/>
          </a:prstGeom>
          <a:solidFill>
            <a:srgbClr val="F4F7FA"/>
          </a:solidFill>
          <a:ln>
            <a:solidFill>
              <a:srgbClr val="306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816352" y="3364992"/>
            <a:ext cx="1591056" cy="67665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350" b="1">
                <a:solidFill>
                  <a:srgbClr val="141F30"/>
                </a:solidFill>
                <a:latin typeface="Aptos"/>
              </a:rPr>
              <a:t>PL/SQL
Parser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212080" y="2240280"/>
            <a:ext cx="1737360" cy="822960"/>
          </a:xfrm>
          <a:prstGeom prst="roundRect">
            <a:avLst/>
          </a:prstGeom>
          <a:solidFill>
            <a:srgbClr val="F4F7FA"/>
          </a:solidFill>
          <a:ln>
            <a:solidFill>
              <a:srgbClr val="2384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285232" y="2313432"/>
            <a:ext cx="1591056" cy="67665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350" b="1">
                <a:solidFill>
                  <a:srgbClr val="141F30"/>
                </a:solidFill>
                <a:latin typeface="Aptos"/>
              </a:rPr>
              <a:t>Review Engine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543800" y="1325880"/>
            <a:ext cx="1737360" cy="822960"/>
          </a:xfrm>
          <a:prstGeom prst="roundRect">
            <a:avLst/>
          </a:prstGeom>
          <a:solidFill>
            <a:srgbClr val="F4F7FA"/>
          </a:solidFill>
          <a:ln>
            <a:solidFill>
              <a:srgbClr val="306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616952" y="1399032"/>
            <a:ext cx="1591056" cy="67665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350" b="1">
                <a:solidFill>
                  <a:srgbClr val="141F30"/>
                </a:solidFill>
                <a:latin typeface="Aptos"/>
              </a:rPr>
              <a:t>Deterministic
Checks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43800" y="3291840"/>
            <a:ext cx="1737360" cy="822960"/>
          </a:xfrm>
          <a:prstGeom prst="roundRect">
            <a:avLst/>
          </a:prstGeom>
          <a:solidFill>
            <a:srgbClr val="F4F7FA"/>
          </a:solidFill>
          <a:ln>
            <a:solidFill>
              <a:srgbClr val="2384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616952" y="3364992"/>
            <a:ext cx="1591056" cy="67665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350" b="1">
                <a:solidFill>
                  <a:srgbClr val="141F30"/>
                </a:solidFill>
                <a:latin typeface="Aptos"/>
              </a:rPr>
              <a:t>Private / Approved
LLM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875520" y="2240280"/>
            <a:ext cx="1645920" cy="822960"/>
          </a:xfrm>
          <a:prstGeom prst="roundRect">
            <a:avLst/>
          </a:prstGeom>
          <a:solidFill>
            <a:srgbClr val="F4F7FA"/>
          </a:solidFill>
          <a:ln>
            <a:solidFill>
              <a:srgbClr val="DC87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948672" y="2313432"/>
            <a:ext cx="1499616" cy="67665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350" b="1">
                <a:solidFill>
                  <a:srgbClr val="141F30"/>
                </a:solidFill>
                <a:latin typeface="Aptos"/>
              </a:rPr>
              <a:t>Findings +
Audit</a:t>
            </a:r>
          </a:p>
        </p:txBody>
      </p:sp>
      <p:cxnSp>
        <p:nvCxnSpPr>
          <p:cNvPr id="19" name="Connector 18"/>
          <p:cNvCxnSpPr/>
          <p:nvPr/>
        </p:nvCxnSpPr>
        <p:spPr>
          <a:xfrm flipV="1">
            <a:off x="2240280" y="2651760"/>
            <a:ext cx="2971800" cy="45720"/>
          </a:xfrm>
          <a:prstGeom prst="line">
            <a:avLst/>
          </a:prstGeom>
          <a:ln w="19050">
            <a:solidFill>
              <a:srgbClr val="66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4480560" y="1737360"/>
            <a:ext cx="731520" cy="777240"/>
          </a:xfrm>
          <a:prstGeom prst="line">
            <a:avLst/>
          </a:prstGeom>
          <a:ln w="19050">
            <a:solidFill>
              <a:srgbClr val="66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4480560" y="2788920"/>
            <a:ext cx="731520" cy="914400"/>
          </a:xfrm>
          <a:prstGeom prst="line">
            <a:avLst/>
          </a:prstGeom>
          <a:ln w="19050">
            <a:solidFill>
              <a:srgbClr val="66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6949440" y="1737360"/>
            <a:ext cx="594360" cy="914400"/>
          </a:xfrm>
          <a:prstGeom prst="line">
            <a:avLst/>
          </a:prstGeom>
          <a:ln w="19050">
            <a:solidFill>
              <a:srgbClr val="66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6949440" y="2697480"/>
            <a:ext cx="594360" cy="1005840"/>
          </a:xfrm>
          <a:prstGeom prst="line">
            <a:avLst/>
          </a:prstGeom>
          <a:ln w="19050">
            <a:solidFill>
              <a:srgbClr val="66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9281160" y="1737360"/>
            <a:ext cx="594360" cy="777240"/>
          </a:xfrm>
          <a:prstGeom prst="line">
            <a:avLst/>
          </a:prstGeom>
          <a:ln w="19050">
            <a:solidFill>
              <a:srgbClr val="66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9281160" y="2788920"/>
            <a:ext cx="594360" cy="914400"/>
          </a:xfrm>
          <a:prstGeom prst="line">
            <a:avLst/>
          </a:prstGeom>
          <a:ln w="19050">
            <a:solidFill>
              <a:srgbClr val="66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685800" y="4892040"/>
            <a:ext cx="2286000" cy="3657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800" b="1">
                <a:solidFill>
                  <a:srgbClr val="141F30"/>
                </a:solidFill>
                <a:latin typeface="Aptos"/>
              </a:rPr>
              <a:t>Potential next steps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5303520"/>
            <a:ext cx="8042138" cy="9438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232B36"/>
                </a:solidFill>
                <a:latin typeface="Aptos"/>
              </a:defRPr>
            </a:pPr>
            <a:r>
              <a:rPr dirty="0"/>
              <a:t>• Use approved internal/private model and enterprise security controls.</a:t>
            </a:r>
          </a:p>
          <a:p>
            <a:pPr>
              <a:spcAft>
                <a:spcPts val="800"/>
              </a:spcAft>
              <a:defRPr sz="1400">
                <a:solidFill>
                  <a:srgbClr val="232B36"/>
                </a:solidFill>
                <a:latin typeface="Aptos"/>
              </a:defRPr>
            </a:pPr>
            <a:r>
              <a:rPr dirty="0"/>
              <a:t>• Build a representative PL/SQL evaluation dataset and measure precision/recall-style quality metrics.</a:t>
            </a:r>
          </a:p>
          <a:p>
            <a:pPr>
              <a:spcAft>
                <a:spcPts val="800"/>
              </a:spcAft>
              <a:defRPr sz="1400">
                <a:solidFill>
                  <a:srgbClr val="232B36"/>
                </a:solidFill>
                <a:latin typeface="Aptos"/>
              </a:defRPr>
            </a:pPr>
            <a:r>
              <a:t>• Integrate with SVN  for developer feedback before merge.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" y="6510528"/>
            <a:ext cx="9875520" cy="20116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850" b="0">
                <a:solidFill>
                  <a:srgbClr val="667280"/>
                </a:solidFill>
                <a:latin typeface="Aptos"/>
              </a:rPr>
              <a:t>Oracle PL/SQL Code Review Agent  |  G2E / US Office PoC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64240" y="6492240"/>
            <a:ext cx="45720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900" b="1">
                <a:solidFill>
                  <a:srgbClr val="667280"/>
                </a:solidFill>
                <a:latin typeface="Aptos"/>
              </a:rPr>
              <a:t>9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700" b="1">
                <a:solidFill>
                  <a:srgbClr val="141F30"/>
                </a:solidFill>
                <a:latin typeface="Aptos"/>
              </a:rPr>
              <a:t>9. Business &amp; Developer Value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41248"/>
            <a:ext cx="10789920" cy="34747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50" b="0">
                <a:solidFill>
                  <a:srgbClr val="667280"/>
                </a:solidFill>
                <a:latin typeface="Aptos"/>
              </a:rPr>
              <a:t>What this could enable if the PoC is productized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325880"/>
            <a:ext cx="347472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85800" y="1325880"/>
            <a:ext cx="73152" cy="1965960"/>
          </a:xfrm>
          <a:prstGeom prst="rect">
            <a:avLst/>
          </a:prstGeom>
          <a:solidFill>
            <a:srgbClr val="306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86968" y="1490472"/>
            <a:ext cx="310896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600" b="1">
                <a:solidFill>
                  <a:srgbClr val="141F30"/>
                </a:solidFill>
                <a:latin typeface="Aptos"/>
              </a:rPr>
              <a:t>Consistency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1892807"/>
            <a:ext cx="3108960" cy="12801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50" b="0">
                <a:solidFill>
                  <a:srgbClr val="232B36"/>
                </a:solidFill>
                <a:latin typeface="Aptos"/>
              </a:rPr>
              <a:t>Apply documented standards consistently across PL/SQL development and reviews.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325880"/>
            <a:ext cx="347472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343400" y="1325880"/>
            <a:ext cx="73152" cy="1965960"/>
          </a:xfrm>
          <a:prstGeom prst="rect">
            <a:avLst/>
          </a:prstGeom>
          <a:solidFill>
            <a:srgbClr val="2384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44568" y="1490472"/>
            <a:ext cx="310896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600" b="1">
                <a:solidFill>
                  <a:srgbClr val="141F30"/>
                </a:solidFill>
                <a:latin typeface="Aptos"/>
              </a:rPr>
              <a:t>Developer productivity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44568" y="1892807"/>
            <a:ext cx="3108960" cy="12801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50" b="0">
                <a:solidFill>
                  <a:srgbClr val="232B36"/>
                </a:solidFill>
                <a:latin typeface="Aptos"/>
              </a:rPr>
              <a:t>Reduce repetitive review effort and provide immediate explanations and recommendations.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01000" y="1325880"/>
            <a:ext cx="347472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001000" y="1325880"/>
            <a:ext cx="73152" cy="1965960"/>
          </a:xfrm>
          <a:prstGeom prst="rect">
            <a:avLst/>
          </a:prstGeom>
          <a:solidFill>
            <a:srgbClr val="DC87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02168" y="1490472"/>
            <a:ext cx="310896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600" b="1">
                <a:solidFill>
                  <a:srgbClr val="141F30"/>
                </a:solidFill>
                <a:latin typeface="Aptos"/>
              </a:rPr>
              <a:t>Maintainability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02168" y="1892807"/>
            <a:ext cx="3108960" cy="12801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50" b="0">
                <a:solidFill>
                  <a:srgbClr val="232B36"/>
                </a:solidFill>
                <a:latin typeface="Aptos"/>
              </a:rPr>
              <a:t>Change standards centrally without embedding every policy change into application code.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3794760"/>
            <a:ext cx="3657600" cy="3657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800" b="1">
                <a:solidFill>
                  <a:srgbClr val="141F30"/>
                </a:solidFill>
                <a:latin typeface="Aptos"/>
              </a:rPr>
              <a:t>Potential long-term extension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4251960"/>
            <a:ext cx="10241280" cy="1508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32B36"/>
                </a:solidFill>
                <a:latin typeface="Aptos"/>
              </a:defRPr>
            </a:pPr>
            <a:r>
              <a:t>• Extend beyond naming conventions into contextual SQL, exception-handling, performance and security standards.</a:t>
            </a:r>
          </a:p>
          <a:p>
            <a:pPr>
              <a:spcAft>
                <a:spcPts val="800"/>
              </a:spcAft>
              <a:defRPr sz="1600">
                <a:solidFill>
                  <a:srgbClr val="232B36"/>
                </a:solidFill>
                <a:latin typeface="Aptos"/>
              </a:defRPr>
            </a:pPr>
            <a:r>
              <a:t>• Use repository history and review feedback to improve evaluation and developer guidance.</a:t>
            </a:r>
          </a:p>
          <a:p>
            <a:pPr>
              <a:spcAft>
                <a:spcPts val="800"/>
              </a:spcAft>
              <a:defRPr sz="1600">
                <a:solidFill>
                  <a:srgbClr val="232B36"/>
                </a:solidFill>
                <a:latin typeface="Aptos"/>
              </a:defRPr>
            </a:pPr>
            <a:r>
              <a:t>• Provide review results through IDE, pull-request or CI/CD integrations.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6510528"/>
            <a:ext cx="9875520" cy="20116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850" b="0">
                <a:solidFill>
                  <a:srgbClr val="667280"/>
                </a:solidFill>
                <a:latin typeface="Aptos"/>
              </a:rPr>
              <a:t>Oracle PL/SQL Code Review Agent  |  G2E / US Office PoC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64240" y="6492240"/>
            <a:ext cx="45720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900" b="1">
                <a:solidFill>
                  <a:srgbClr val="667280"/>
                </a:solidFill>
                <a:latin typeface="Aptos"/>
              </a:rPr>
              <a:t>10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F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77240" y="731520"/>
            <a:ext cx="5943600" cy="5486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Aptos"/>
              </a:rPr>
              <a:t>10. Key Takeaway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00200"/>
            <a:ext cx="8138160" cy="11430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Aptos"/>
              </a:rPr>
              <a:t>The PoC demonstrates a practical path to
AI-assisted PL/SQL development.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246120"/>
            <a:ext cx="9966960" cy="6400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800" b="0" dirty="0">
                <a:solidFill>
                  <a:srgbClr val="BED7E1"/>
                </a:solidFill>
                <a:latin typeface="Aptos"/>
              </a:rPr>
              <a:t>Externalized standards  •  LLM reasoning  •  Structured findings  •  Human-in-the-loop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617720"/>
            <a:ext cx="9875520" cy="7772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Aptos"/>
              </a:rPr>
              <a:t>Next: validate against representative code, strengthen security, and evaluate integration with the development workflow.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806440"/>
            <a:ext cx="2743200" cy="3657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800" b="1">
                <a:solidFill>
                  <a:srgbClr val="78BEB9"/>
                </a:solidFill>
                <a:latin typeface="Aptos"/>
              </a:rPr>
              <a:t>Thank you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510528"/>
            <a:ext cx="9875520" cy="20116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850" b="0">
                <a:solidFill>
                  <a:srgbClr val="667280"/>
                </a:solidFill>
                <a:latin typeface="Aptos"/>
              </a:rPr>
              <a:t>Oracle PL/SQL Code Review Agent  |  G2E / US Office PoC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6492240"/>
            <a:ext cx="45720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900" b="1">
                <a:solidFill>
                  <a:srgbClr val="667280"/>
                </a:solidFill>
                <a:latin typeface="Aptos"/>
              </a:rPr>
              <a:t>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1195</TotalTime>
  <Words>1202</Words>
  <Application>Microsoft Office PowerPoint</Application>
  <PresentationFormat>Widescreen</PresentationFormat>
  <Paragraphs>158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Jyothsna Elugoti</cp:lastModifiedBy>
  <cp:revision>7</cp:revision>
  <dcterms:created xsi:type="dcterms:W3CDTF">2013-01-27T09:14:16Z</dcterms:created>
  <dcterms:modified xsi:type="dcterms:W3CDTF">2026-09-15T13:22:09Z</dcterms:modified>
  <cp:category/>
</cp:coreProperties>
</file>