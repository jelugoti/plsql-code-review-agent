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7" r:id="rId8"/>
    <p:sldId id="268" r:id="rId9"/>
    <p:sldId id="269" r:id="rId10"/>
    <p:sldId id="27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633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6583680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Oracle PL/SQL
Code Review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630936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0">
                <a:solidFill>
                  <a:srgbClr val="DCE6F0"/>
                </a:solidFill>
                <a:latin typeface="Aptos"/>
              </a:rPr>
              <a:t>LLM-powered code review driven by an external
PL/SQL standards 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417320"/>
            <a:ext cx="1828800" cy="914400"/>
          </a:xfrm>
          <a:prstGeom prst="roundRect">
            <a:avLst/>
          </a:prstGeom>
          <a:solidFill>
            <a:srgbClr val="243449"/>
          </a:solidFill>
          <a:ln>
            <a:solidFill>
              <a:srgbClr val="5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50438" y="1582132"/>
            <a:ext cx="1147044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/>
              </a:rPr>
              <a:t>Standards
DOCX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2788920"/>
            <a:ext cx="1828800" cy="914400"/>
          </a:xfrm>
          <a:prstGeom prst="roundRect">
            <a:avLst/>
          </a:prstGeom>
          <a:solidFill>
            <a:srgbClr val="243449"/>
          </a:solidFill>
          <a:ln>
            <a:solidFill>
              <a:srgbClr val="5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89225" y="2953732"/>
            <a:ext cx="869469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/>
              </a:rPr>
              <a:t>PL/SQL
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2103120"/>
            <a:ext cx="1463040" cy="914400"/>
          </a:xfrm>
          <a:prstGeom prst="roundRect">
            <a:avLst/>
          </a:prstGeom>
          <a:solidFill>
            <a:srgbClr val="243449"/>
          </a:solidFill>
          <a:ln>
            <a:solidFill>
              <a:srgbClr val="5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84039" y="2283321"/>
            <a:ext cx="811761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ptos"/>
              </a:rPr>
              <a:t>LLM
Review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38360" y="1874519"/>
            <a:ext cx="320040" cy="640081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738360" y="2606040"/>
            <a:ext cx="320040" cy="64008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5212080"/>
            <a:ext cx="1530675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IN" sz="1400" b="1">
                <a:solidFill>
                  <a:srgbClr val="8FB0D6"/>
                </a:solidFill>
                <a:latin typeface="Aptos"/>
              </a:rPr>
              <a:t>Proof of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1. 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Why explore AI-assisted PL/SQL review?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154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Standards are external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2876237" cy="66941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Coding standards can evolve over time.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 Hardcoding every review rule creates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 maintenance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828800"/>
          </a:xfrm>
          <a:prstGeom prst="rect">
            <a:avLst/>
          </a:prstGeom>
          <a:solidFill>
            <a:srgbClr val="1D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54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Review effort is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238066" cy="66941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Developers and reviewers spend time 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checking repetitive standards and explaining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findings.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5A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154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Context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92807"/>
            <a:ext cx="3243901" cy="66941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Some review findings need code context, 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an explanation, and a practical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recommendation—not just a pattern match.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49039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10698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6"/>
                </a:solidFill>
                <a:latin typeface="Aptos"/>
              </a:defRPr>
            </a:pPr>
            <a:r>
              <a:rPr dirty="0"/>
              <a:t>• Use an LLM to interpret the supplied standards in the context of PL/SQL code.</a:t>
            </a:r>
          </a:p>
          <a:p>
            <a:pPr>
              <a:spcAft>
                <a:spcPts val="800"/>
              </a:spcAft>
              <a:defRPr sz="1700">
                <a:solidFill>
                  <a:srgbClr val="232B36"/>
                </a:solidFill>
                <a:latin typeface="Aptos"/>
              </a:defRPr>
            </a:pPr>
            <a:r>
              <a:rPr dirty="0"/>
              <a:t>• Keep the review policy outside the application code.</a:t>
            </a:r>
          </a:p>
          <a:p>
            <a:pPr>
              <a:spcAft>
                <a:spcPts val="800"/>
              </a:spcAft>
              <a:defRPr sz="1700">
                <a:solidFill>
                  <a:srgbClr val="232B36"/>
                </a:solidFill>
                <a:latin typeface="Aptos"/>
              </a:defRPr>
            </a:pPr>
            <a:r>
              <a:rPr dirty="0"/>
              <a:t>• Return structured, actionable findings for developers.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A standards-driven PL/SQL review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2880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1901952"/>
            <a:ext cx="168249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1
Upload Standards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828800"/>
            <a:ext cx="182880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53512" y="1901952"/>
            <a:ext cx="168249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2
Provide PL/SQL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28800"/>
            <a:ext cx="182880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93792" y="1901952"/>
            <a:ext cx="168249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3
Extract Standards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828800"/>
            <a:ext cx="182880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34072" y="1901952"/>
            <a:ext cx="168249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4
LLM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828800"/>
            <a:ext cx="182880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5A6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74352" y="1901952"/>
            <a:ext cx="168249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5
Structured Findings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8880" y="2377440"/>
            <a:ext cx="411480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09160" y="2377440"/>
            <a:ext cx="411480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0" y="2377440"/>
            <a:ext cx="411479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89720" y="2377440"/>
            <a:ext cx="411480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794760"/>
            <a:ext cx="2743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Core design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43400"/>
            <a:ext cx="8672246" cy="38472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900" b="0">
                <a:solidFill>
                  <a:srgbClr val="232B36"/>
                </a:solidFill>
                <a:latin typeface="Aptos"/>
              </a:rPr>
              <a:t>The standards document is read at review time and passed to the LLM as context.</a:t>
            </a:r>
            <a:endParaRPr sz="1900" b="0">
              <a:solidFill>
                <a:srgbClr val="232B36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6926191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800" b="1">
                <a:solidFill>
                  <a:srgbClr val="1D4F91"/>
                </a:solidFill>
                <a:latin typeface="Aptos"/>
              </a:rPr>
              <a:t>Result: standards can change without changing the Python code.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3. PoC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What each component is responsible for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64592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1901952"/>
            <a:ext cx="1499616" cy="7223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Standards
DOCX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64592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3822191"/>
            <a:ext cx="1499616" cy="7223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 dirty="0">
                <a:solidFill>
                  <a:srgbClr val="141F30"/>
                </a:solidFill>
                <a:latin typeface="Aptos"/>
              </a:rPr>
              <a:t>PL/SQL
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600200"/>
            <a:ext cx="201168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16352" y="1673352"/>
            <a:ext cx="186537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1F30"/>
                </a:solidFill>
                <a:latin typeface="Aptos"/>
              </a:rPr>
              <a:t>standards_reader.py
Read 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880360"/>
            <a:ext cx="201168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16352" y="2953512"/>
            <a:ext cx="186537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1F30"/>
                </a:solidFill>
                <a:latin typeface="Aptos"/>
              </a:rPr>
              <a:t>rule_extractor.py
Create StandardRule[]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240280"/>
            <a:ext cx="201168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59552" y="2313432"/>
            <a:ext cx="186537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dirty="0">
                <a:solidFill>
                  <a:srgbClr val="141F30"/>
                </a:solidFill>
                <a:latin typeface="Aptos"/>
              </a:rPr>
              <a:t>llm_reviewer.py
Build review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240280"/>
            <a:ext cx="182880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5A6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2313432"/>
            <a:ext cx="16824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41F30"/>
                </a:solidFill>
                <a:latin typeface="Aptos"/>
              </a:rPr>
              <a:t>Groq LLM
Structured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0" y="2240280"/>
            <a:ext cx="132588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60152" y="2313432"/>
            <a:ext cx="117957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1F30"/>
                </a:solidFill>
                <a:latin typeface="Aptos"/>
              </a:rPr>
              <a:t>Streamlit
Dashboard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286000" y="2057400"/>
            <a:ext cx="457200" cy="210312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286000" y="2697480"/>
            <a:ext cx="3200400" cy="1490472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749039" y="2514600"/>
            <a:ext cx="1737361" cy="18288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79" y="2697480"/>
            <a:ext cx="731521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2697480"/>
            <a:ext cx="228600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97480" y="4800600"/>
            <a:ext cx="89611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232B36"/>
                </a:solidFill>
                <a:latin typeface="Aptos"/>
              </a:rPr>
              <a:t>Structured output fields include Rule ID, severity, line, code, issue, standard and recommendation.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5D95F-14F9-A603-2A21-8E2157AF0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4BF949-EB11-6B8E-8195-D56A01FFB333}"/>
              </a:ext>
            </a:extLst>
          </p:cNvPr>
          <p:cNvSpPr txBox="1"/>
          <p:nvPr/>
        </p:nvSpPr>
        <p:spPr>
          <a:xfrm>
            <a:off x="594360" y="320040"/>
            <a:ext cx="3498073" cy="5078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2700" b="1" dirty="0">
                <a:solidFill>
                  <a:srgbClr val="141F30"/>
                </a:solidFill>
                <a:latin typeface="Aptos"/>
              </a:rPr>
              <a:t>4. Technologies Used</a:t>
            </a:r>
            <a:endParaRPr sz="2700" b="1" dirty="0">
              <a:solidFill>
                <a:srgbClr val="141F30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00415C-6F71-BFC9-2AF9-8874E0F5BC5C}"/>
              </a:ext>
            </a:extLst>
          </p:cNvPr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46C24E-7E7E-ED56-BFE8-3C541EBBE68D}"/>
              </a:ext>
            </a:extLst>
          </p:cNvPr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5E647F-A1B8-12AB-430B-9CFDB0713C8E}"/>
              </a:ext>
            </a:extLst>
          </p:cNvPr>
          <p:cNvSpPr txBox="1"/>
          <p:nvPr/>
        </p:nvSpPr>
        <p:spPr>
          <a:xfrm>
            <a:off x="1071231" y="1500802"/>
            <a:ext cx="34980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- Python</a:t>
            </a:r>
          </a:p>
          <a:p>
            <a:pPr>
              <a:lnSpc>
                <a:spcPct val="100000"/>
              </a:lnSpc>
              <a:buNone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en-IN" sz="1800" b="0" dirty="0" err="1">
                <a:solidFill>
                  <a:schemeClr val="tx1"/>
                </a:solidFill>
                <a:effectLst/>
                <a:latin typeface="+mn-lt"/>
              </a:rPr>
              <a:t>Streamlit</a:t>
            </a:r>
            <a:endParaRPr lang="en-IN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- Oracle PL/SQL</a:t>
            </a:r>
          </a:p>
          <a:p>
            <a:pPr>
              <a:lnSpc>
                <a:spcPct val="100000"/>
              </a:lnSpc>
              <a:buNone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en-IN" sz="1800" b="0" dirty="0" err="1">
                <a:solidFill>
                  <a:schemeClr val="tx1"/>
                </a:solidFill>
                <a:effectLst/>
                <a:latin typeface="+mn-lt"/>
              </a:rPr>
              <a:t>Groq</a:t>
            </a: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 API</a:t>
            </a:r>
          </a:p>
          <a:p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- Large Language Model (</a:t>
            </a:r>
            <a:r>
              <a:rPr lang="en-IN" dirty="0" err="1"/>
              <a:t>openai</a:t>
            </a:r>
            <a:r>
              <a:rPr lang="en-IN" dirty="0"/>
              <a:t>/gpt-oss-120b)</a:t>
            </a:r>
            <a:endParaRPr lang="en-IN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- python-docx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126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 dirty="0">
                <a:solidFill>
                  <a:srgbClr val="141F30"/>
                </a:solidFill>
                <a:latin typeface="Aptos"/>
              </a:rPr>
              <a:t>4. </a:t>
            </a:r>
            <a:r>
              <a:rPr lang="en-IN" sz="2700" b="1" dirty="0">
                <a:solidFill>
                  <a:srgbClr val="141F30"/>
                </a:solidFill>
                <a:latin typeface="Aptos"/>
              </a:rPr>
              <a:t>Live Demo</a:t>
            </a:r>
            <a:endParaRPr sz="2700" b="1" dirty="0">
              <a:solidFill>
                <a:srgbClr val="141F3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The strongest proof point: change the standard, not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1D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Scenario A — Standard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297180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DOCX says:
Local Variable → l_
Code uses:
</a:t>
            </a:r>
            <a:r>
              <a:rPr sz="1250" b="0" dirty="0" err="1">
                <a:solidFill>
                  <a:srgbClr val="232B36"/>
                </a:solidFill>
                <a:latin typeface="Aptos"/>
              </a:rPr>
              <a:t>l_employee_name</a:t>
            </a:r>
            <a:endParaRPr sz="1250" b="0" dirty="0">
              <a:solidFill>
                <a:srgbClr val="232B36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828800"/>
          </a:xfrm>
          <a:prstGeom prst="rect">
            <a:avLst/>
          </a:prstGeom>
          <a:solidFill>
            <a:srgbClr val="1D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49047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892807"/>
            <a:ext cx="2508444" cy="86177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250" b="0">
                <a:solidFill>
                  <a:srgbClr val="232B36"/>
                </a:solidFill>
                <a:latin typeface="Aptos"/>
              </a:rPr>
              <a:t>No violation</a:t>
            </a:r>
          </a:p>
          <a:p>
            <a:pPr algn="l"/>
            <a:endParaRPr lang="en-US" sz="1250" b="0">
              <a:solidFill>
                <a:srgbClr val="232B36"/>
              </a:solidFill>
              <a:latin typeface="Aptos"/>
            </a:endParaRPr>
          </a:p>
          <a:p>
            <a:pPr algn="l"/>
            <a:r>
              <a:rPr lang="en-US" sz="1250" b="0">
                <a:solidFill>
                  <a:srgbClr val="232B36"/>
                </a:solidFill>
                <a:latin typeface="Aptos"/>
              </a:rPr>
              <a:t>Same Python, same PL/SQL</a:t>
            </a:r>
          </a:p>
          <a:p>
            <a:pPr algn="l"/>
            <a:r>
              <a:rPr lang="en-US" sz="1250" b="0">
                <a:solidFill>
                  <a:srgbClr val="232B36"/>
                </a:solidFill>
                <a:latin typeface="Aptos"/>
              </a:rPr>
              <a:t>Code complies with the standard.</a:t>
            </a:r>
            <a:endParaRPr sz="1250" b="0" dirty="0">
              <a:solidFill>
                <a:srgbClr val="232B36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83879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325880"/>
            <a:ext cx="73152" cy="1828800"/>
          </a:xfrm>
          <a:prstGeom prst="rect">
            <a:avLst/>
          </a:prstGeom>
          <a:solidFill>
            <a:srgbClr val="5A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49047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Scenario B — Standard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892807"/>
            <a:ext cx="297180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DOCX changes:
Local Variable → lv_
Same code remains:
l_employee_name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3360" y="2240280"/>
            <a:ext cx="365760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2240280"/>
            <a:ext cx="365760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749039"/>
            <a:ext cx="5486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Observed result after changing only the DOCX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2867773" cy="4770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IN" sz="2500" b="1">
                <a:solidFill>
                  <a:srgbClr val="5A6B80"/>
                </a:solidFill>
                <a:latin typeface="Aptos"/>
              </a:rPr>
              <a:t>Violation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8096191" cy="3539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700" b="0">
                <a:solidFill>
                  <a:srgbClr val="232B36"/>
                </a:solidFill>
                <a:latin typeface="Aptos"/>
              </a:rPr>
              <a:t>The LLM flags l_employee_name against the new lv_ standard and recommends a fix.</a:t>
            </a:r>
            <a:endParaRPr sz="1700" b="0" dirty="0">
              <a:solidFill>
                <a:srgbClr val="232B36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806440"/>
            <a:ext cx="8100423" cy="3539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700" b="1">
                <a:solidFill>
                  <a:srgbClr val="1D4F91"/>
                </a:solidFill>
                <a:latin typeface="Aptos"/>
              </a:rPr>
              <a:t>Key message: policy change → review behavior change → no Python code change.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BF8AF-9162-FA20-8E09-F9F6E5526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2D9C8-DF59-0299-E625-84641C4FB838}"/>
              </a:ext>
            </a:extLst>
          </p:cNvPr>
          <p:cNvSpPr txBox="1"/>
          <p:nvPr/>
        </p:nvSpPr>
        <p:spPr>
          <a:xfrm>
            <a:off x="594360" y="320040"/>
            <a:ext cx="4931863" cy="5078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2700" b="1">
                <a:solidFill>
                  <a:srgbClr val="141F30"/>
                </a:solidFill>
                <a:latin typeface="Aptos"/>
              </a:rPr>
              <a:t>4.</a:t>
            </a:r>
            <a:r>
              <a:rPr lang="en-US" sz="2700" b="1" dirty="0">
                <a:solidFill>
                  <a:srgbClr val="141F30"/>
                </a:solidFill>
                <a:latin typeface="Aptos"/>
              </a:rPr>
              <a:t>1</a:t>
            </a:r>
            <a:r>
              <a:rPr lang="en-US" sz="2700" b="1">
                <a:solidFill>
                  <a:srgbClr val="141F30"/>
                </a:solidFill>
                <a:latin typeface="Aptos"/>
              </a:rPr>
              <a:t> Demo — Upload standards</a:t>
            </a:r>
            <a:endParaRPr sz="2700" b="1" dirty="0">
              <a:solidFill>
                <a:srgbClr val="141F30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BFB4B5-0771-2C2B-D978-8B96F8E9789D}"/>
              </a:ext>
            </a:extLst>
          </p:cNvPr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063462-909A-13AD-4056-8DDCB9462153}"/>
              </a:ext>
            </a:extLst>
          </p:cNvPr>
          <p:cNvSpPr txBox="1"/>
          <p:nvPr/>
        </p:nvSpPr>
        <p:spPr>
          <a:xfrm>
            <a:off x="11275860" y="6492240"/>
            <a:ext cx="245580" cy="230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lang="en-US" sz="900" b="1">
                <a:solidFill>
                  <a:srgbClr val="667280"/>
                </a:solidFill>
                <a:latin typeface="Aptos"/>
              </a:rPr>
              <a:t>6</a:t>
            </a:r>
            <a:endParaRPr sz="900" b="1">
              <a:solidFill>
                <a:srgbClr val="667280"/>
              </a:solidFill>
              <a:latin typeface="Apto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FFF0E51-6719-E4A2-6F12-79C7E325F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56" y="1222744"/>
            <a:ext cx="9923063" cy="473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96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813A6-ACFB-A560-AC63-4DFB22E9C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76DB43-F08D-627B-394D-22662622A870}"/>
              </a:ext>
            </a:extLst>
          </p:cNvPr>
          <p:cNvSpPr txBox="1"/>
          <p:nvPr/>
        </p:nvSpPr>
        <p:spPr>
          <a:xfrm>
            <a:off x="594360" y="320040"/>
            <a:ext cx="5319277" cy="5078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2700" b="1">
                <a:solidFill>
                  <a:srgbClr val="141F30"/>
                </a:solidFill>
                <a:latin typeface="Aptos"/>
              </a:rPr>
              <a:t>4.</a:t>
            </a:r>
            <a:r>
              <a:rPr lang="en-US" sz="2700" b="1" dirty="0">
                <a:solidFill>
                  <a:srgbClr val="141F30"/>
                </a:solidFill>
                <a:latin typeface="Aptos"/>
              </a:rPr>
              <a:t>2</a:t>
            </a:r>
            <a:r>
              <a:rPr lang="en-US" sz="2700" b="1">
                <a:solidFill>
                  <a:srgbClr val="141F30"/>
                </a:solidFill>
                <a:latin typeface="Aptos"/>
              </a:rPr>
              <a:t> Demo — Review a PL/SQL file</a:t>
            </a:r>
            <a:endParaRPr sz="2700" b="1" dirty="0">
              <a:solidFill>
                <a:srgbClr val="141F30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1AB206-0BFA-651E-EB58-C7E1488A4636}"/>
              </a:ext>
            </a:extLst>
          </p:cNvPr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4101CB-5370-D866-6085-8FCD34650912}"/>
              </a:ext>
            </a:extLst>
          </p:cNvPr>
          <p:cNvSpPr txBox="1"/>
          <p:nvPr/>
        </p:nvSpPr>
        <p:spPr>
          <a:xfrm>
            <a:off x="11275860" y="6492240"/>
            <a:ext cx="245580" cy="230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lang="en-US" sz="900" b="1">
                <a:solidFill>
                  <a:srgbClr val="667280"/>
                </a:solidFill>
                <a:latin typeface="Aptos"/>
              </a:rPr>
              <a:t>7</a:t>
            </a:r>
            <a:endParaRPr sz="900" b="1">
              <a:solidFill>
                <a:srgbClr val="667280"/>
              </a:solidFill>
              <a:latin typeface="Apto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0FE40C-7F6E-7AFD-01FC-1B2D2DC6B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4892"/>
            <a:ext cx="11597640" cy="48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3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6289C-A320-EF44-E42A-A5AEBA5C5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3E122D-748E-A79C-8E15-6A760ADF09E3}"/>
              </a:ext>
            </a:extLst>
          </p:cNvPr>
          <p:cNvSpPr txBox="1"/>
          <p:nvPr/>
        </p:nvSpPr>
        <p:spPr>
          <a:xfrm>
            <a:off x="594360" y="320040"/>
            <a:ext cx="3493649" cy="570176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l"/>
            <a:r>
              <a:rPr lang="en-US" sz="2700" b="1">
                <a:solidFill>
                  <a:srgbClr val="141F30"/>
                </a:solidFill>
                <a:latin typeface="Aptos"/>
              </a:rPr>
              <a:t>4.</a:t>
            </a:r>
            <a:r>
              <a:rPr lang="en-US" sz="2700" b="1" dirty="0">
                <a:solidFill>
                  <a:srgbClr val="141F30"/>
                </a:solidFill>
                <a:latin typeface="Aptos"/>
              </a:rPr>
              <a:t>3</a:t>
            </a:r>
            <a:r>
              <a:rPr lang="en-US" sz="2700" b="1">
                <a:solidFill>
                  <a:srgbClr val="141F30"/>
                </a:solidFill>
                <a:latin typeface="Aptos"/>
              </a:rPr>
              <a:t> Demo — Findings dashboard</a:t>
            </a:r>
            <a:endParaRPr sz="2700" b="1" dirty="0">
              <a:solidFill>
                <a:srgbClr val="141F30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82A88C-CFC4-2730-150A-FFC786ABEA77}"/>
              </a:ext>
            </a:extLst>
          </p:cNvPr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83C62E-A317-0822-A71A-9CA7BE3AC661}"/>
              </a:ext>
            </a:extLst>
          </p:cNvPr>
          <p:cNvSpPr txBox="1"/>
          <p:nvPr/>
        </p:nvSpPr>
        <p:spPr>
          <a:xfrm>
            <a:off x="11275860" y="6492240"/>
            <a:ext cx="245580" cy="230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lang="en-US" sz="900" b="1">
                <a:solidFill>
                  <a:srgbClr val="667280"/>
                </a:solidFill>
                <a:latin typeface="Aptos"/>
              </a:rPr>
              <a:t>8</a:t>
            </a:r>
            <a:endParaRPr sz="900" b="1">
              <a:solidFill>
                <a:srgbClr val="667280"/>
              </a:solidFill>
              <a:latin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E01E3-BEB0-6DE5-5384-7BF120AAF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7648"/>
            <a:ext cx="11597640" cy="529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37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872E7-5F89-4A1A-8DBD-98C946C50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A02D7B-D43B-722A-2E12-7B3E319ABDA0}"/>
              </a:ext>
            </a:extLst>
          </p:cNvPr>
          <p:cNvSpPr txBox="1"/>
          <p:nvPr/>
        </p:nvSpPr>
        <p:spPr>
          <a:xfrm>
            <a:off x="594360" y="320040"/>
            <a:ext cx="3493649" cy="657325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l"/>
            <a:r>
              <a:rPr lang="en-US" sz="2700" b="1">
                <a:solidFill>
                  <a:srgbClr val="141F30"/>
                </a:solidFill>
                <a:latin typeface="Aptos"/>
              </a:rPr>
              <a:t>4.</a:t>
            </a:r>
            <a:r>
              <a:rPr lang="en-US" sz="2700" b="1" dirty="0">
                <a:solidFill>
                  <a:srgbClr val="141F30"/>
                </a:solidFill>
                <a:latin typeface="Aptos"/>
              </a:rPr>
              <a:t>4</a:t>
            </a:r>
            <a:r>
              <a:rPr lang="en-US" sz="2700" b="1">
                <a:solidFill>
                  <a:srgbClr val="141F30"/>
                </a:solidFill>
                <a:latin typeface="Aptos"/>
              </a:rPr>
              <a:t> Demo — Standard changed, violation raised</a:t>
            </a:r>
            <a:endParaRPr sz="2700" b="1" dirty="0">
              <a:solidFill>
                <a:srgbClr val="141F30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EE6BDB-6E0E-4300-DB15-F01734EFCF83}"/>
              </a:ext>
            </a:extLst>
          </p:cNvPr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281CD1-C9C7-1149-62B0-571D66A6C744}"/>
              </a:ext>
            </a:extLst>
          </p:cNvPr>
          <p:cNvSpPr txBox="1"/>
          <p:nvPr/>
        </p:nvSpPr>
        <p:spPr>
          <a:xfrm>
            <a:off x="11275860" y="6492240"/>
            <a:ext cx="245580" cy="230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lang="en-US" sz="900" b="1">
                <a:solidFill>
                  <a:srgbClr val="667280"/>
                </a:solidFill>
                <a:latin typeface="Aptos"/>
              </a:rPr>
              <a:t>9</a:t>
            </a:r>
            <a:endParaRPr sz="900" b="1">
              <a:solidFill>
                <a:srgbClr val="667280"/>
              </a:solidFill>
              <a:latin typeface="Apto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C3980-F88B-DDD6-DB79-D6D56DD11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30" y="1004797"/>
            <a:ext cx="9906276" cy="467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289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5. Review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Actionable findings rather than a generic pass/fail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9659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444752"/>
            <a:ext cx="18196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Standards Loaded
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371600"/>
            <a:ext cx="19659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5A6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53512" y="1444752"/>
            <a:ext cx="18196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Total Findings
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371600"/>
            <a:ext cx="19659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48072" y="1444752"/>
            <a:ext cx="18196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High
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371600"/>
            <a:ext cx="19659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5A6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42631" y="1444752"/>
            <a:ext cx="18196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Medium
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371600"/>
            <a:ext cx="19659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37192" y="1444752"/>
            <a:ext cx="18196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Low
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06040"/>
            <a:ext cx="10744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606040"/>
            <a:ext cx="73152" cy="1143000"/>
          </a:xfrm>
          <a:prstGeom prst="rect">
            <a:avLst/>
          </a:prstGeom>
          <a:solidFill>
            <a:srgbClr val="5A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2770632"/>
            <a:ext cx="103784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DOC-003 | MEDIUM | Line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172968"/>
            <a:ext cx="10378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Parameter 'employee_id' does not use the required p_ prefix.
Recommendation: rename to p_employee_id.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86200"/>
            <a:ext cx="10744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886200"/>
            <a:ext cx="73152" cy="1143000"/>
          </a:xfrm>
          <a:prstGeom prst="rect">
            <a:avLst/>
          </a:prstGeom>
          <a:solidFill>
            <a:srgbClr val="5A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050791"/>
            <a:ext cx="103784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DOC-001 | MEDIUM | Line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453128"/>
            <a:ext cx="10378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Local variable 'employee_name' does not use the required prefix.
Recommendation is tied to the standard supplied in the document.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66360"/>
            <a:ext cx="10744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5166360"/>
            <a:ext cx="73152" cy="914400"/>
          </a:xfrm>
          <a:prstGeom prst="rect">
            <a:avLst/>
          </a:prstGeom>
          <a:solidFill>
            <a:srgbClr val="5A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330952"/>
            <a:ext cx="103784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DOC-001 | MEDIUM | Line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733288"/>
            <a:ext cx="10378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Local variable 'bad_count' is reported with its source line and recommendation.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14946" y="6492240"/>
            <a:ext cx="306494" cy="230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lang="en-US" sz="900" b="1">
                <a:solidFill>
                  <a:srgbClr val="667280"/>
                </a:solidFill>
                <a:latin typeface="Aptos"/>
              </a:rPr>
              <a:t>10</a:t>
            </a:r>
            <a:endParaRPr sz="900" b="1">
              <a:solidFill>
                <a:srgbClr val="66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6. Why an LLM?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Where LLM-based review adds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2148840"/>
          </a:xfrm>
          <a:prstGeom prst="rect">
            <a:avLst/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Rule-based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310896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Strong for deterministic patterns:
• Naming conventions
• Simple syntax/pattern validation
• Fast and predictable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2148840"/>
          </a:xfrm>
          <a:prstGeom prst="rect">
            <a:avLst/>
          </a:prstGeom>
          <a:solidFill>
            <a:srgbClr val="1D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LLM-based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10896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Useful when the rule needs context:
• Interpret the supplied standard
• Explain why code violates it
• Generate practical recommendations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73152" cy="2148840"/>
          </a:xfrm>
          <a:prstGeom prst="rect">
            <a:avLst/>
          </a:prstGeom>
          <a:solidFill>
            <a:srgbClr val="5A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Future hybrid option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892807"/>
            <a:ext cx="310896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Production can combine both:
• Deterministic checks for certainty
• LLM for contextual review and 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39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PoC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7698711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800" b="0">
                <a:solidFill>
                  <a:srgbClr val="232B36"/>
                </a:solidFill>
                <a:latin typeface="Aptos"/>
              </a:rPr>
              <a:t>Review logic stays LLM-driven so policy changes need only a document edit.</a:t>
            </a:r>
            <a:endParaRPr sz="1800" b="0">
              <a:solidFill>
                <a:srgbClr val="232B36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14946" y="6492240"/>
            <a:ext cx="306494" cy="230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lang="en-US" sz="900" b="1">
                <a:solidFill>
                  <a:srgbClr val="667280"/>
                </a:solidFill>
                <a:latin typeface="Aptos"/>
              </a:rPr>
              <a:t>11</a:t>
            </a:r>
            <a:endParaRPr sz="900" b="1">
              <a:solidFill>
                <a:srgbClr val="66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7. Guardrails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What the PoC does—and what it does not claim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965960"/>
          </a:xfrm>
          <a:prstGeom prst="rect">
            <a:avLst/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Grounding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2969339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50" b="0">
                <a:solidFill>
                  <a:srgbClr val="232B36"/>
                </a:solidFill>
                <a:latin typeface="Aptos"/>
              </a:rPr>
              <a:t>Use only the supplied standards; cite a Rule ID for every finding.</a:t>
            </a:r>
            <a:endParaRPr sz="1250" b="0" dirty="0">
              <a:solidFill>
                <a:srgbClr val="232B36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965960"/>
          </a:xfrm>
          <a:prstGeom prst="rect">
            <a:avLst/>
          </a:prstGeom>
          <a:solidFill>
            <a:srgbClr val="1D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Structured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461653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50" b="0">
                <a:solidFill>
                  <a:srgbClr val="232B36"/>
                </a:solidFill>
                <a:latin typeface="Aptos"/>
              </a:rPr>
              <a:t>A strict JSON schema gives the dashboard a predictable result contract.</a:t>
            </a:r>
            <a:endParaRPr sz="1250" b="0" dirty="0">
              <a:solidFill>
                <a:srgbClr val="232B36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73152" cy="1965960"/>
          </a:xfrm>
          <a:prstGeom prst="rect">
            <a:avLst/>
          </a:prstGeom>
          <a:solidFill>
            <a:srgbClr val="5A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892807"/>
            <a:ext cx="3229987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50" b="0">
                <a:solidFill>
                  <a:srgbClr val="232B36"/>
                </a:solidFill>
                <a:latin typeface="Aptos"/>
              </a:rPr>
              <a:t>An assistant, not an approval gate. Findings are validated by a reviewer.</a:t>
            </a:r>
            <a:endParaRPr sz="1250" b="0" dirty="0">
              <a:solidFill>
                <a:srgbClr val="232B3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2743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Known PoC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• LLMs can still make incorrect judgments; evaluation and test suites are required.</a:t>
            </a:r>
          </a:p>
          <a:p>
            <a:pPr>
              <a:spcAft>
                <a:spcPts val="8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• The current document parser is tailored to the prototype standards format.</a:t>
            </a:r>
          </a:p>
          <a:p>
            <a:pPr>
              <a:spcAft>
                <a:spcPts val="8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• Confidential source code requires an approved/private model and security architecture before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14946" y="6492240"/>
            <a:ext cx="306494" cy="230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lang="en-US" sz="900" b="1">
                <a:solidFill>
                  <a:srgbClr val="667280"/>
                </a:solidFill>
                <a:latin typeface="Aptos"/>
              </a:rPr>
              <a:t>12</a:t>
            </a:r>
            <a:endParaRPr sz="900" b="1">
              <a:solidFill>
                <a:srgbClr val="66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8. Future Production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A path from PoC to an internal developer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164592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6377" y="2547439"/>
            <a:ext cx="1501885" cy="30008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 dirty="0">
                <a:solidFill>
                  <a:srgbClr val="141F30"/>
                </a:solidFill>
                <a:latin typeface="Aptos"/>
              </a:rPr>
              <a:t>Developer / SVN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17373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16352" y="1399032"/>
            <a:ext cx="15910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Standards
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291840"/>
            <a:ext cx="17373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16352" y="3364992"/>
            <a:ext cx="15910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PL/SQL
Parser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2240280"/>
            <a:ext cx="17373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85232" y="2313432"/>
            <a:ext cx="15910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Review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325880"/>
            <a:ext cx="17373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16952" y="1399032"/>
            <a:ext cx="15910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Deterministic
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3291840"/>
            <a:ext cx="17373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6952" y="3364992"/>
            <a:ext cx="15910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Private / Approved
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240280"/>
            <a:ext cx="164592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5A6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48672" y="2313432"/>
            <a:ext cx="149961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Findings +
Audit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240280" y="2651760"/>
            <a:ext cx="2971800" cy="4572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0560" y="1737360"/>
            <a:ext cx="731520" cy="77724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480560" y="2788920"/>
            <a:ext cx="731520" cy="91440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949440" y="1737360"/>
            <a:ext cx="594360" cy="91440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49440" y="2697480"/>
            <a:ext cx="594360" cy="100584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81160" y="1737360"/>
            <a:ext cx="594360" cy="77724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281160" y="2788920"/>
            <a:ext cx="594360" cy="91440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489204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Potential next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03520"/>
            <a:ext cx="8042138" cy="943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B36"/>
                </a:solidFill>
                <a:latin typeface="Aptos"/>
              </a:defRPr>
            </a:pPr>
            <a:r>
              <a:rPr dirty="0"/>
              <a:t>• Use approved internal/private model and enterprise security controls.</a:t>
            </a:r>
          </a:p>
          <a:p>
            <a:pPr>
              <a:spcAft>
                <a:spcPts val="800"/>
              </a:spcAft>
              <a:defRPr sz="1400">
                <a:solidFill>
                  <a:srgbClr val="232B36"/>
                </a:solidFill>
                <a:latin typeface="Aptos"/>
              </a:defRPr>
            </a:pPr>
            <a:r>
              <a:rPr dirty="0"/>
              <a:t>• Build a representative PL/SQL evaluation dataset and measure precision/recall-style quality metrics.</a:t>
            </a:r>
          </a:p>
          <a:p>
            <a:pPr>
              <a:spcAft>
                <a:spcPts val="800"/>
              </a:spcAft>
              <a:defRPr sz="1400">
                <a:solidFill>
                  <a:srgbClr val="232B36"/>
                </a:solidFill>
                <a:latin typeface="Aptos"/>
              </a:defRPr>
            </a:pPr>
            <a:r>
              <a:t>• Integrate with SVN  for developer feedback before merge.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14946" y="6492240"/>
            <a:ext cx="306494" cy="230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lang="en-US" sz="900" b="1">
                <a:solidFill>
                  <a:srgbClr val="667280"/>
                </a:solidFill>
                <a:latin typeface="Aptos"/>
              </a:rPr>
              <a:t>13</a:t>
            </a:r>
            <a:endParaRPr sz="900" b="1">
              <a:solidFill>
                <a:srgbClr val="66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9. Business &amp; Developer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What this could enable if the PoC is productized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965960"/>
          </a:xfrm>
          <a:prstGeom prst="rect">
            <a:avLst/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310896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50" b="0">
                <a:solidFill>
                  <a:srgbClr val="232B36"/>
                </a:solidFill>
                <a:latin typeface="Aptos"/>
              </a:rPr>
              <a:t>Documented standards applied the same way across all PL/SQL work.</a:t>
            </a:r>
            <a:endParaRPr sz="1250" b="0">
              <a:solidFill>
                <a:srgbClr val="232B36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965960"/>
          </a:xfrm>
          <a:prstGeom prst="rect">
            <a:avLst/>
          </a:prstGeom>
          <a:solidFill>
            <a:srgbClr val="1D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Developer productivity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10896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50" b="0">
                <a:solidFill>
                  <a:srgbClr val="232B36"/>
                </a:solidFill>
                <a:latin typeface="Aptos"/>
              </a:rPr>
              <a:t>Less repetitive review effort, with instant explanations.</a:t>
            </a:r>
            <a:endParaRPr sz="1250" b="0">
              <a:solidFill>
                <a:srgbClr val="232B36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73152" cy="1965960"/>
          </a:xfrm>
          <a:prstGeom prst="rect">
            <a:avLst/>
          </a:prstGeom>
          <a:solidFill>
            <a:srgbClr val="5A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Maintainability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892807"/>
            <a:ext cx="310896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50" b="0">
                <a:solidFill>
                  <a:srgbClr val="232B36"/>
                </a:solidFill>
                <a:latin typeface="Aptos"/>
              </a:rPr>
              <a:t>Change standards centrally, never inside application code.</a:t>
            </a:r>
            <a:endParaRPr sz="1250" b="0">
              <a:solidFill>
                <a:srgbClr val="232B3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Potential long-term 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102412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• Extend beyond naming conventions into contextual SQL, exception-handling, performance and security standards.</a:t>
            </a:r>
          </a:p>
          <a:p>
            <a:pPr>
              <a:spcAft>
                <a:spcPts val="8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• Use repository history and review feedback to improve evaluation and developer guidance.</a:t>
            </a:r>
          </a:p>
          <a:p>
            <a:pPr>
              <a:spcAft>
                <a:spcPts val="8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• Provide review results through IDE, pull-request or CI/CD integrations.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14946" y="6492240"/>
            <a:ext cx="306494" cy="230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lang="en-US" sz="900" b="1">
                <a:solidFill>
                  <a:srgbClr val="667280"/>
                </a:solidFill>
                <a:latin typeface="Aptos"/>
              </a:rPr>
              <a:t>14</a:t>
            </a:r>
            <a:endParaRPr sz="900" b="1">
              <a:solidFill>
                <a:srgbClr val="66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59436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10. 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813816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The PoC demonstrates a practical path to
AI-assisted PL/SQL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99669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 dirty="0">
                <a:solidFill>
                  <a:srgbClr val="BED7E1"/>
                </a:solidFill>
                <a:latin typeface="Aptos"/>
              </a:rPr>
              <a:t>Externalized standards  •  LLM reasoning  •  Structured findings  •  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7490640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800" b="0">
                <a:solidFill>
                  <a:srgbClr val="FFFFFF"/>
                </a:solidFill>
                <a:latin typeface="Aptos"/>
              </a:rPr>
              <a:t>Next: validate on real code, strengthen security, plan workflow integration.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243610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IN" sz="1800" b="1">
                <a:solidFill>
                  <a:srgbClr val="8FB0D6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14946" y="6492240"/>
            <a:ext cx="306494" cy="230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lang="en-US" sz="900" b="1">
                <a:solidFill>
                  <a:srgbClr val="667280"/>
                </a:solidFill>
                <a:latin typeface="Aptos"/>
              </a:rPr>
              <a:t>15</a:t>
            </a:r>
            <a:endParaRPr sz="900" b="1">
              <a:solidFill>
                <a:srgbClr val="66728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1211</Words>
  <Application>Microsoft Office PowerPoint</Application>
  <PresentationFormat>Widescreen</PresentationFormat>
  <Paragraphs>165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Jyothsna Elugoti</cp:lastModifiedBy>
  <cp:revision>10</cp:revision>
  <dcterms:created xsi:type="dcterms:W3CDTF">2013-01-27T09:14:16Z</dcterms:created>
  <dcterms:modified xsi:type="dcterms:W3CDTF">2026-09-16T10:33:15Z</dcterms:modified>
  <cp:category/>
</cp:coreProperties>
</file>